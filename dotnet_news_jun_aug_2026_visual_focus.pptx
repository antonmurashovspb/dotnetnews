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Aptos"/>
              </a:rPr>
              <a:t>Click to move the slide</a:t>
            </a:r>
            <a:endParaRPr lang="en-US" sz="1800" b="0" u="none" strike="noStrike">
              <a:solidFill>
                <a:schemeClr val="dk1"/>
              </a:solidFill>
              <a:effectLst/>
              <a:uFillTx/>
              <a:latin typeface="Aptos"/>
            </a:endParaRPr>
          </a:p>
        </p:txBody>
      </p:sp>
      <p:sp>
        <p:nvSpPr>
          <p:cNvPr id="10"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1"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2"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3"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4"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F1ED0228-459E-4B68-8F68-CB15C5F3F379}"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685800" y="1143000"/>
            <a:ext cx="5486040" cy="3085920"/>
          </a:xfrm>
          <a:prstGeom prst="rect">
            <a:avLst/>
          </a:prstGeom>
          <a:ln w="0">
            <a:noFill/>
          </a:ln>
        </p:spPr>
      </p:sp>
      <p:sp>
        <p:nvSpPr>
          <p:cNvPr id="1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Welcome. This version of the presentation takes a deliberately selective approach. Between June and August, Microsoft published three .NET 11 previews with changes across almost every part of the platform. We could spend the whole session reading feature lists, but that would not help us decide what matters. Instead, I have chosen five stories with clear implications for application teams. We will look at stronger domain modeling in C# 15, safer and more capable web development in ASP.NET Core, improvements to build and test workflows, the continued push toward Native AOT and modern containers, and the operational deadline created by the end of support for .NET 8 and .NET 9. I will distinguish preview capabilities from production actions throughout the talk. The goal is to leave with a useful mental model, one or two ideas worth experimenting with, and a concrete migration action for existing systems.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17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9DA7C5E-BC0E-41D2-A70F-EA616D631AE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sldImg"/>
          </p:nvPr>
        </p:nvSpPr>
        <p:spPr>
          <a:xfrm>
            <a:off x="685800" y="1143000"/>
            <a:ext cx="5486040" cy="3085920"/>
          </a:xfrm>
          <a:prstGeom prst="rect">
            <a:avLst/>
          </a:prstGeom>
          <a:ln w="0">
            <a:noFill/>
          </a:ln>
        </p:spPr>
      </p:sp>
      <p:sp>
        <p:nvSpPr>
          <p:cNvPr id="1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These are the five stories that structure the session. The first is about representation: C# 15 previews unions and closed hierarchies, which can make a finite set of domain cases visible to both developers and the compiler. The second is about the web platform: async validation, automatic CSRF protection, OpenAPI 3.2, and new Blazor capabilities point toward safer defaults and richer server-rendered applications. The third is about daily workflow. The SDK adds practical controls to dotnet test, supports traversal projects, enables the MSBuild server by default, and improves file-based applications. The fourth story connects Native AOT with the command line, testing, and containers. The fifth is not a preview feature at all. It is the November 10, 2026 end-of-support date for .NET 8 and .NET 9. That deadline determines what many teams must do before they can adopt any new feature. The talk moves from future design possibilities toward immediate operational responsibility.</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181"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A4A159-1804-4AC6-BC09-1AEEC6C78A6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ldImg"/>
          </p:nvPr>
        </p:nvSpPr>
        <p:spPr>
          <a:xfrm>
            <a:off x="685800" y="1143000"/>
            <a:ext cx="5486040" cy="3085920"/>
          </a:xfrm>
          <a:prstGeom prst="rect">
            <a:avLst/>
          </a:prstGeom>
          <a:ln w="0">
            <a:noFill/>
          </a:ln>
        </p:spPr>
      </p:sp>
      <p:sp>
        <p:nvSpPr>
          <p:cNvPr id="1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The first chapter establishes where .NET 11 stood at the end of August. Preview 5 arrived on June 9, Preview 6 on July 14, and Preview 7 on August 11. By Preview 7, Microsoft described work across libraries, runtime, SDK, C#, ASP.NET Core, MAUI, EF Core, F#, and Windows Forms. That breadth matters because a platform release succeeds only when the pieces converge. Language features need serialization support. Framework features need tooling. Runtime improvements need diagnostics and deployment support. We should therefore read the preview train as a process of integration, not simply as a sequence of new APIs. This chapter will highlight the technical foundation that supports the five stories in the rest of the talk.</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184"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664D680-E490-47B4-97CD-B2B97F57BB0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685800" y="1143000"/>
            <a:ext cx="5486040" cy="3085920"/>
          </a:xfrm>
          <a:prstGeom prst="rect">
            <a:avLst/>
          </a:prstGeom>
          <a:ln w="0">
            <a:noFill/>
          </a:ln>
        </p:spPr>
      </p:sp>
      <p:sp>
        <p:nvSpPr>
          <p:cNvPr id="1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The preview sequence shows a useful progression. Preview 5 introduced recognizable building blocks. Libraries gained JSON Lines serialization, full outer joins in LINQ, X25519 key agreement, and generic numeric APIs for Random. The SDK added build-time vulnerability and end-of-life checks and an MCP server template. C# previewed closed hierarchies and union declarations. Preview 6 connected those ideas across the stack. System.Text.Json learned to serialize C# unions, ASP.NET Core added union support and asynchronous validation, and OpenAPI 3.2 became the default. Native AOT gained a fuller command-line experience, while container publishing and test templates improved. Preview 7 shifted further toward operational refinement. It added dotnet test timeouts and failure limits, traversal project support, the MSBuild server by default, HTTP request compression, DNS APIs, richer ZIP support, and additional runtime work. The message is convergence: features introduced in one layer begin to appear in adjacent layers.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https://devblogs.microsoft.com/dotnet/dotnet-11-preview-5/</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https://devblogs.microsoft.com/dotnet/dotnet-11-preview-6/</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187"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0DA4439-F766-4087-B9F9-64F0BFDBDC1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685800" y="1143000"/>
            <a:ext cx="5486040" cy="3085920"/>
          </a:xfrm>
          <a:prstGeom prst="rect">
            <a:avLst/>
          </a:prstGeom>
          <a:ln w="0">
            <a:noFill/>
          </a:ln>
        </p:spPr>
      </p:sp>
      <p:sp>
        <p:nvSpPr>
          <p:cNvPr id="1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The library story is broad enough that different teams will care about different items. JSON Lines serialization can simplify log pipelines, streaming exports, and datasets where each line contains a complete JSON value. Full outer joins remove a recurring LINQ workaround when unmatched rows from both inputs must be preserved. Preview 7 added HTTP request compression and configurable connection eviction, which can matter for clients that send large payloads or need tighter connection-lifecycle control. New DNS record-resolution APIs expose more than a simple address lookup. Decimal floating-point types and generic Complex support expand the numerics toolbox, although teams must still verify precision, interoperability, and persistence semantics for their domain. ZIP APIs gained password and metadata capabilities. None of these features transforms every application, and that is precisely the point. A mature standard library grows by absorbing common, error-prone infrastructure code. During upgrade planning, teams should search for home-grown helpers that a supported framework API can safely replace.</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https://devblogs.microsoft.com/dotnet/dotnet-11-preview-5/</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190"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3C8D32-AD5A-4847-8BA6-AD1948F753F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6040" cy="3085920"/>
          </a:xfrm>
          <a:prstGeom prst="rect">
            <a:avLst/>
          </a:prstGeom>
          <a:ln w="0">
            <a:noFill/>
          </a:ln>
        </p:spPr>
      </p:sp>
      <p:sp>
        <p:nvSpPr>
          <p:cNvPr id="1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The second chapter focuses on the application model. The most interesting part of the quarter was not a single C# syntax feature. It was the way language ideas began to connect with serialization and web frameworks. Union types and closed hierarchies become far more useful when System.Text.Json can serialize them, ASP.NET Core can bind them, OpenAPI can describe them, and pattern matching can check exhaustiveness. In parallel, ASP.NET Core and Blazor added practical security, validation, caching, and lifecycle capabilities. EF Core and MAUI continued their own preview work. This chapter asks a design question: can the next platform version let applications express intent more directly, with less custom glue between domain models and framework infrastructure?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193"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049EB08-C07A-466A-A9A3-D98CED148A1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6040" cy="3085920"/>
          </a:xfrm>
          <a:prstGeom prst="rect">
            <a:avLst/>
          </a:prstGeom>
          <a:ln w="0">
            <a:noFill/>
          </a:ln>
        </p:spPr>
      </p:sp>
      <p:sp>
        <p:nvSpPr>
          <p:cNvPr id="1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C# 15 previews union declarations, union patterns, and closed class hierarchies. Consider a payment operation. Today, a codebase might communicate success, business rejection, and technical failure through a mixture of nulls, exceptions, booleans, and loosely related records. A union can model those alternatives as one explicit result type. Closed hierarchies address a similar problem for inheritance by declaring that the set of derived cases is finite. This gives pattern matching more information and can enable exhaustiveness checking. The important development across the quarter was integration. Preview 6 included support types for unions and System.Text.Json serialization. ASP.NET Core added union support. Preview 7 added polymorphism inference for closed hierarchies and stronger exhaustiveness behavior for constrained type parameters. This is still preview functionality, so syntax and details can change. The architectural value, however, is clear: make invalid or forgotten states harder to represent, and make the contract between domain code and framework code more explicit.</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https://devblogs.microsoft.com/dotnet/dotnet-11-preview-5/</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https://devblogs.microsoft.com/dotnet/dotnet-11-preview-6/</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196"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AA372EA-2155-4179-9C5D-F75EE8016ED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6040" cy="3085920"/>
          </a:xfrm>
          <a:prstGeom prst="rect">
            <a:avLst/>
          </a:prstGeom>
          <a:ln w="0">
            <a:noFill/>
          </a:ln>
        </p:spPr>
      </p:sp>
      <p:sp>
        <p:nvSpPr>
          <p:cNvPr id="1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ASP.NET Core's preview work points toward safer behavior implemented closer to the framework. Asynchronous validation for Minimal APIs allows validation logic to use asynchronous dependencies without forcing blocking patterns. Automatic CSRF protection reduces the chance that a team forgets a security control in an applicable request flow, although developers still need to understand when the protection applies. OpenAPI 3.2 became the default in Preview 6, and Preview 7 added support for representing Server-Sent Events in OpenAPI. This matters for generated clients, documentation, and contract governance. Blazor added a different set of operational features. Circuits can pause after inactivity, server-rendered output can be cached through CacheView, QuickGrid navigation improved, and new analyzers help detect problematic code. These are not isolated conveniences. They move common concerns such as validation, request security, API description, resource use, and diagnostics into framework-supported paths. Teams should review defaults carefully during migration because safer or newer behavior can reveal assumptions in existing applications.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https://devblogs.microsoft.com/dotnet/dotnet-11-preview-6/</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199"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2C0178D-0226-431C-B710-A7284B67D51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685800" y="1143000"/>
            <a:ext cx="5486040" cy="3085920"/>
          </a:xfrm>
          <a:prstGeom prst="rect">
            <a:avLst/>
          </a:prstGeom>
          <a:ln w="0">
            <a:noFill/>
          </a:ln>
        </p:spPr>
      </p:sp>
      <p:sp>
        <p:nvSpPr>
          <p:cNvPr id="2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EF Core's preview changes concentrate on query translation, modeling, migrations, and provider behavior. Preview 5 introduced an analyzer warning when asynchronous EF queries execute synchronously, helping teams detect a subtle scalability problem. It also changed SQL Server 2022 compatibility to the default and continued work on cleaner generated SQL. Preview 6 added keys and indexes across complex-type properties, unconstrained foreign-key relationships, Cosmos provider improvements, and migration refinements. Preview 7 continued translation and migration work and added Half support for SQLite. MAUI followed a different path, emphasizing reliability and platform capabilities. Across the previews, Microsoft highlighted Windows Maps, cancellation-aware animation overloads, CollectionView2 on Windows, AOT-safe HybridWebView, cross-platform passkey authentication, XAML Incremental Hot Reload, shell route templates, and AOT-safe RelativeSource bindings. Application teams should select the slice relevant to their stack rather than evaluate the whole platform. Data teams can test generated SQL and migrations; mobile teams can focus on platform behavior, build modes, and authentication flows.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https://devblogs.microsoft.com/dotnet/dotnet-11-preview-5/</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https://devblogs.microsoft.com/dotnet/dotnet-11-preview-6/</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202"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548824D-BB10-4AAE-814E-976AD83142E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685800" y="1143000"/>
            <a:ext cx="5486040" cy="3085920"/>
          </a:xfrm>
          <a:prstGeom prst="rect">
            <a:avLst/>
          </a:prstGeom>
          <a:ln w="0">
            <a:noFill/>
          </a:ln>
        </p:spPr>
      </p:sp>
      <p:sp>
        <p:nvSpPr>
          <p:cNvPr id="2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The third chapter turns to the work around the code. Several preview features improve how developers create, test, package, and ship applications. File-based applications become more capable, dotnet test gains controls that CI systems commonly implement through extra scripts, Native AOT becomes accessible through a fuller command-line surface, and container publishing expands its support for multi-architecture builds. The SDK also introduces earlier signals for vulnerability and end-of-life risk. These changes matter because a platform can have excellent runtime features and still feel expensive if the delivery workflow requires fragile custom automation. The next two stories ask where .NET 11 may remove that friction and where teams should still keep explicit engineering controls.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205"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89AD33A-D72D-43E5-B053-68D78B8BC06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685800" y="1143000"/>
            <a:ext cx="5486040" cy="3085920"/>
          </a:xfrm>
          <a:prstGeom prst="rect">
            <a:avLst/>
          </a:prstGeom>
          <a:ln w="0">
            <a:noFill/>
          </a:ln>
        </p:spPr>
      </p:sp>
      <p:sp>
        <p:nvSpPr>
          <p:cNvPr id="2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Preview 6 and Preview 7 gave dotnet test more attention than it usually receives in headline summaries. Preview 6 added options and output improvements and updated templates for xUnit version 3 and NUnit on Microsoft.Testing.Platform. Preview 7 added a run-level timeout and a maximum-failed-tests threshold. These controls are valuable in CI because they prevent a hung or catastrophically failing run from consuming an entire agent window. Traversal project support helps repositories that use Microsoft.Build.Traversal to coordinate many projects from a single entry point. Reporter improvements make test outcomes easier to understand. MAUI device and environment support also broadens the testing model. Teams may already implement similar behavior in pipeline YAML or wrapper scripts. The opportunity is to simplify that automation by moving common controls into the standard CLI. Before changing a pipeline, compare exit codes, result files, cancellation behavior, parallelism, and how the CI system surfaces failures. Standardization helps only when observability remains at least as good.</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https://devblogs.microsoft.com/dotnet/dotnet-11-preview-6/</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208"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07ED8C1-41EC-4185-BA5A-1912E398141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685800" y="1143000"/>
            <a:ext cx="5486040" cy="3085920"/>
          </a:xfrm>
          <a:prstGeom prst="rect">
            <a:avLst/>
          </a:prstGeom>
          <a:ln w="0">
            <a:noFill/>
          </a:ln>
        </p:spPr>
      </p:sp>
      <p:sp>
        <p:nvSpPr>
          <p:cNvPr id="2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Native AOT continues moving from a specialized publishing option toward a more complete development workflow. Preview 6 said the Native AOT CLI served the full command surface, and Preview 7 enabled that CLI by default. Runtime work included faster interface dispatch and other Native AOT improvements. Container images gained smaller Native AOT SDK images, while SDK container publishing added multi-architecture builds with Podman and later preferred platform-native local runtimes. This direction matters for command-line tools, serverless workloads, small services, and environments where startup time or memory footprint has high value. It does not mean every application should switch. Native AOT imposes constraints around reflection, dynamic code generation, serialization patterns, and third-party libraries. The correct evaluation begins with workload characteristics, then checks compatibility and measures publish size, startup, memory, throughput, and operational behavior. The useful news is that evaluation and delivery increasingly use familiar dotnet commands and container workflows rather than a disconnected specialist toolchain.</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https://devblogs.microsoft.com/dotnet/dotnet-11-preview-6/</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https://devblogs.microsoft.com/dotnet/dotnet-11-preview-7/</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211"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B12986E-347E-49A6-A4DC-70A6DBD863D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685800" y="1143000"/>
            <a:ext cx="5486040" cy="3085920"/>
          </a:xfrm>
          <a:prstGeom prst="rect">
            <a:avLst/>
          </a:prstGeom>
          <a:ln w="0">
            <a:noFill/>
          </a:ln>
        </p:spPr>
      </p:sp>
      <p:sp>
        <p:nvSpPr>
          <p:cNvPr id="21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Preview 5 added an MCP Server template to dotnet new. That is a small SDK feature with a larger signal: Model Context Protocol integration is becoming a normal application shape in the .NET ecosystem. The template can reduce setup work and guide developers toward a supported structure. The MCP C# SDK version 2.0 announcement in July reinforced that direction. For solution architects and lead developers, the important question is not how quickly we can expose a tool. It is what authority that tool receives. An MCP server can make application capabilities available to an AI client, so identity, authorization, tenant isolation, data classification, rate limits, observability, and approval boundaries become part of the API design. Tool descriptions and returned content can also influence model behavior, creating security considerations beyond a conventional REST endpoint. The right first experiment uses a low-risk, read-only capability with synthetic data and detailed logging. This lets the team learn the protocol and client behavior without granting broad access to production systems.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https://devblogs.microsoft.com/dotnet/dotnet-11-preview-5/</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214"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7435BA2-DFF3-4B03-84BA-4638019F33E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6040" cy="3085920"/>
          </a:xfrm>
          <a:prstGeom prst="rect">
            <a:avLst/>
          </a:prstGeom>
          <a:ln w="0">
            <a:noFill/>
          </a:ln>
        </p:spPr>
      </p:sp>
      <p:sp>
        <p:nvSpPr>
          <p:cNvPr id="21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The final chapter separates platform curiosity from production responsibility. June, July, and August each included servicing releases for .NET and .NET Framework. Those updates are part of normal security and reliability operations. At the same time, Microsoft lists November 10, 2026 as the end of support for both .NET 8 and .NET 9. That shared deadline is the most important date in this talk for teams running existing applications. The remaining slides turn the news into a decision sequence: patch what is supported, inventory what is deployed, choose the next supported runtime line, and complete migration work before the deadline leaves systems without normal security updates.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217"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3DA2FDB-C643-4CA7-8FC4-2D5B54633E3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6040" cy="3085920"/>
          </a:xfrm>
          <a:prstGeom prst="rect">
            <a:avLst/>
          </a:prstGeom>
          <a:ln w="0">
            <a:noFill/>
          </a:ln>
        </p:spPr>
      </p:sp>
      <p:sp>
        <p:nvSpPr>
          <p:cNvPr id="21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Microsoft's support policy lists November 10, 2026 as the end-of-support date for both .NET 8 and .NET 9. The shared date may feel surprising because .NET 8 is an LTS release and .NET 9 is an STS release, but their published support windows converge. After that date, teams should not expect the normal security fixes and technical support for those releases. Migration starts with an inventory. Record target frameworks, installed runtimes, ASP.NET Core hosting bundles, self-contained deployments, container base images, CI SDKs, and developer SDK policies. Then choose a supported destination based on the final .NET 11 support policy and organizational standards. Validate third-party packages, EF Core providers, analyzers, deployment tools, platform dependencies, and customer environments. Plan functional and performance tests, staged rollout, observability, and rollback. The deadline should represent completion, not project kickoff. Monthly servicing continues during the migration, so teams must patch current supported systems while preparing the next version.</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https://dotnet.microsoft.com/en-us/platform/support/policy/dotnet-core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220"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A47C504-B08F-4760-82C1-0934F4986D6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6040" cy="3085920"/>
          </a:xfrm>
          <a:prstGeom prst="rect">
            <a:avLst/>
          </a:prstGeom>
          <a:ln w="0">
            <a:noFill/>
          </a:ln>
        </p:spPr>
      </p:sp>
      <p:sp>
        <p:nvSpPr>
          <p:cNvPr id="22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Here is a practical way to act on the quarter's news. This week, create or refresh the runtime inventory and assign an owner to every .NET 8 and .NET 9 workload. Include build and hosting infrastructure, not only project files. Over the next two weeks, choose a representative service and perform a migration spike. Record package incompatibilities, analyzer changes, build warnings, runtime behavior, performance differences, and deployment changes. During the next month, run one separate .NET 11 preview experiment. Select a feature connected to a real problem, such as new dotnet test controls, JSON Lines serialization, union modeling, or Native AOT. Keep that experiment isolated from the supported migration plan. Throughout the period, continue the monthly servicing process for production runtimes. This sequence prevents preview exploration from distracting the team from the support deadline. It also produces reusable evidence for architecture decisions, upgrade estimates, and stakeholder communication.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223"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D4AFD39-991F-4F3D-9DA9-688B912FAA3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6040" cy="3085920"/>
          </a:xfrm>
          <a:prstGeom prst="rect">
            <a:avLst/>
          </a:prstGeom>
          <a:ln w="0">
            <a:noFill/>
          </a:ln>
        </p:spPr>
      </p:sp>
      <p:sp>
        <p:nvSpPr>
          <p:cNvPr id="22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a:rPr>
              <a:t>The final takeaway is to manage two tracks with different rules. The exploration track follows .NET 11. It uses isolated branches, representative benchmarks, compatibility checks, and short architectural experiments. Success means learning something measurable and recording it for the final upgrade. The production track follows supported releases. It uses monthly servicing, controlled deployment, asset inventory, security governance, and a migration plan that completes before November 10. Success means that no workload quietly falls out of support. The five stories connect these tracks. Better domain models, safer web defaults, improved testing, and a more complete Native AOT toolchain make .NET 11 worth evaluating. The lifecycle deadline determines the order of work. First protect and migrate current systems. Then adopt new capabilities where they solve a real problem. That balance lets a team stay current without confusing novelty with readiness.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Sources:</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https://devblogs.microsoft.com/dotnet/dotnet-11-preview-5/</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https://devblogs.microsoft.com/dotnet/dotnet-11-preview-6/</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https://devblogs.microsoft.com/dotnet/dotnet-11-preview-7/</a:t>
            </a:r>
            <a:endParaRPr lang="en-US" sz="2000" b="0" u="none" strike="noStrike">
              <a:solidFill>
                <a:srgbClr val="000000"/>
              </a:solidFill>
              <a:effectLst/>
              <a:uFillTx/>
              <a:latin typeface="Arial"/>
            </a:endParaRPr>
          </a:p>
          <a:p>
            <a:pPr indent="0" algn="l">
              <a:buNone/>
            </a:pPr>
            <a:r>
              <a:rPr lang="en-US" sz="2000" b="0" u="none" strike="noStrike">
                <a:solidFill>
                  <a:srgbClr val="000000"/>
                </a:solidFill>
                <a:effectLst/>
                <a:uFillTx/>
                <a:latin typeface="Arial"/>
              </a:rPr>
              <a:t>https://dotnet.microsoft.com/en-us/platform/support/policy/dotnet-core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&lt;number&gt;</a:t>
            </a:r>
            <a:endParaRPr lang="en-US" sz="2000" b="0" u="none" strike="noStrike">
              <a:solidFill>
                <a:srgbClr val="000000"/>
              </a:solidFill>
              <a:effectLst/>
              <a:uFillTx/>
              <a:latin typeface="Arial"/>
            </a:endParaRPr>
          </a:p>
        </p:txBody>
      </p:sp>
      <p:sp>
        <p:nvSpPr>
          <p:cNvPr id="226"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FB0DC57-72AE-4BFA-B04E-2349414EE1B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
    <p:bg>
      <p:bgPr>
        <a:solidFill>
          <a:srgbClr val="070D1A"/>
        </a:solidFill>
      </p:bgPr>
    </p:bg>
    <p:spTree>
      <p:nvGrpSpPr>
        <p:cNvPr id="1" name=""/>
        <p:cNvGrpSpPr/>
        <p:nvPr/>
      </p:nvGrpSpPr>
      <p:grpSpPr>
        <a:xfrm>
          <a:off x="0" y="0"/>
          <a:ext cx="0" cy="0"/>
          <a:chOff x="0" y="0"/>
          <a:chExt cx="0" cy="0"/>
        </a:xfrm>
      </p:grpSpPr>
      <p:sp>
        <p:nvSpPr>
          <p:cNvPr id="4" name="Shape 0"/>
          <p:cNvSpPr/>
          <p:nvPr/>
        </p:nvSpPr>
        <p:spPr>
          <a:xfrm>
            <a:off x="0" y="0"/>
            <a:ext cx="12191400" cy="63720"/>
          </a:xfrm>
          <a:prstGeom prst="rect">
            <a:avLst/>
          </a:prstGeom>
          <a:solidFill>
            <a:srgbClr val="9175FF"/>
          </a:solidFill>
          <a:ln w="12700">
            <a:solidFill>
              <a:srgbClr val="9175FF"/>
            </a:solidFill>
            <a:round/>
          </a:ln>
        </p:spPr>
        <p:style>
          <a:lnRef idx="0"/>
          <a:fillRef idx="0"/>
          <a:effectRef idx="0"/>
          <a:fontRef idx="minor"/>
        </p:style>
        <p:txBody>
          <a:bodyPr lIns="90000" tIns="19080" rIns="90000" bIns="19080" anchor="t">
            <a:noAutofit/>
          </a:bodyPr>
          <a:p>
            <a:pPr/>
            <a:endParaRPr lang="en-US" sz="1800" b="0" u="none" strike="noStrike">
              <a:solidFill>
                <a:srgbClr val="FFFFFF"/>
              </a:solidFill>
              <a:effectLst/>
              <a:uFillTx/>
              <a:latin typeface="Arial"/>
            </a:endParaRPr>
          </a:p>
        </p:txBody>
      </p:sp>
      <p:sp>
        <p:nvSpPr>
          <p:cNvPr id="5" name="Text 1"/>
          <p:cNvSpPr/>
          <p:nvPr/>
        </p:nvSpPr>
        <p:spPr>
          <a:xfrm>
            <a:off x="457200" y="6537960"/>
            <a:ext cx="3200040" cy="1278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700" b="0" u="none" strike="noStrike">
                <a:solidFill>
                  <a:srgbClr val="71809A"/>
                </a:solidFill>
                <a:effectLst/>
                <a:uFillTx/>
                <a:latin typeface="Aptos"/>
                <a:ea typeface="Aptos"/>
              </a:rPr>
              <a:t>.NET NEWS  /  JUN–AUG 2026</a:t>
            </a:r>
            <a:endParaRPr lang="en-US" sz="700" b="0" u="none" strike="noStrike">
              <a:solidFill>
                <a:srgbClr val="FFFFFF"/>
              </a:solidFill>
              <a:effectLst/>
              <a:uFillTx/>
              <a:latin typeface="Arial"/>
            </a:endParaRPr>
          </a:p>
        </p:txBody>
      </p:sp>
      <p:sp>
        <p:nvSpPr>
          <p:cNvPr id="6" name="PlaceHolder 1"/>
          <p:cNvSpPr>
            <a:spLocks noGrp="1"/>
          </p:cNvSpPr>
          <p:nvPr>
            <p:ph type="sldNum" idx="1"/>
          </p:nvPr>
        </p:nvSpPr>
        <p:spPr>
          <a:xfrm>
            <a:off x="11521440" y="651060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800" b="0" u="none" strike="noStrike">
                <a:solidFill>
                  <a:srgbClr val="71809A"/>
                </a:solidFill>
                <a:effectLst/>
                <a:uFillTx/>
                <a:latin typeface="Aptos"/>
                <a:ea typeface="Aptos"/>
              </a:defRPr>
            </a:lvl1pPr>
          </a:lstStyle>
          <a:p>
            <a:pPr indent="0" algn="l" defTabSz="914400">
              <a:lnSpc>
                <a:spcPct val="100000"/>
              </a:lnSpc>
              <a:buNone/>
            </a:pPr>
            <a:fld id="{539B0A06-3303-4598-A120-053FEDECDD06}" type="slidenum">
              <a:rPr lang="en-US" sz="800" b="0" u="none" strike="noStrike">
                <a:solidFill>
                  <a:srgbClr val="71809A"/>
                </a:solidFill>
                <a:effectLst/>
                <a:uFillTx/>
                <a:latin typeface="Aptos"/>
                <a:ea typeface="Aptos"/>
              </a:rPr>
              <a:t>&lt;number&gt;</a:t>
            </a:fld>
            <a:endParaRPr lang="en-US" sz="800" b="0" u="none" strike="noStrike">
              <a:solidFill>
                <a:srgbClr val="FFFFFF"/>
              </a:solidFill>
              <a:effectLst/>
              <a:uFillTx/>
              <a:latin typeface="Times New Roman"/>
            </a:endParaRPr>
          </a:p>
        </p:txBody>
      </p:sp>
      <p:sp>
        <p:nvSpPr>
          <p:cNvPr id="7"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Aptos"/>
              </a:defRPr>
            </a:lvl1pPr>
          </a:lstStyle>
          <a:p>
            <a:pPr indent="0" algn="l">
              <a:buNone/>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8"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FFFFFF"/>
              </a:buClr>
              <a:buSzPct val="45000"/>
              <a:buFont typeface="Wingdings" charset="2"/>
              <a:buChar char=""/>
              <a:defRPr lang="en-US" sz="3200" b="0" u="none" strike="noStrike">
                <a:solidFill>
                  <a:schemeClr val="dk1"/>
                </a:solidFill>
                <a:effectLst/>
                <a:uFillTx/>
                <a:latin typeface="Aptos"/>
              </a:defRPr>
            </a:lvl1pPr>
            <a:lvl2pPr lvl="1" algn="l">
              <a:spcBef>
                <a:spcPts val="1134"/>
              </a:spcBef>
              <a:buClr>
                <a:srgbClr val="FFFFFF"/>
              </a:buClr>
              <a:buSzPct val="75000"/>
              <a:buFont typeface="Symbol" charset="2"/>
              <a:buChar char=""/>
              <a:defRPr lang="en-US" sz="2400" b="0" u="none" strike="noStrike">
                <a:solidFill>
                  <a:schemeClr val="dk1"/>
                </a:solidFill>
                <a:effectLst/>
                <a:uFillTx/>
                <a:latin typeface="Aptos"/>
              </a:defRPr>
            </a:lvl2pPr>
            <a:lvl3pPr lvl="2" algn="l">
              <a:spcBef>
                <a:spcPts val="850"/>
              </a:spcBef>
              <a:buClr>
                <a:srgbClr val="FFFFFF"/>
              </a:buClr>
              <a:buSzPct val="45000"/>
              <a:buFont typeface="Wingdings" charset="2"/>
              <a:buChar char=""/>
              <a:defRPr lang="en-US" sz="2000" b="0" u="none" strike="noStrike">
                <a:solidFill>
                  <a:schemeClr val="dk1"/>
                </a:solidFill>
                <a:effectLst/>
                <a:uFillTx/>
                <a:latin typeface="Aptos"/>
              </a:defRPr>
            </a:lvl3pPr>
            <a:lvl4pPr lvl="3" algn="l">
              <a:spcBef>
                <a:spcPts val="567"/>
              </a:spcBef>
              <a:buClr>
                <a:srgbClr val="FFFFFF"/>
              </a:buClr>
              <a:buSzPct val="75000"/>
              <a:buFont typeface="Symbol" charset="2"/>
              <a:buChar char=""/>
              <a:defRPr lang="en-US" sz="2000" b="0" u="none" strike="noStrike">
                <a:solidFill>
                  <a:schemeClr val="dk1"/>
                </a:solidFill>
                <a:effectLst/>
                <a:uFillTx/>
                <a:latin typeface="Aptos"/>
              </a:defRPr>
            </a:lvl4pPr>
            <a:lvl5pPr lvl="4" algn="l">
              <a:spcBef>
                <a:spcPts val="283"/>
              </a:spcBef>
              <a:buClr>
                <a:srgbClr val="FFFFFF"/>
              </a:buClr>
              <a:buSzPct val="45000"/>
              <a:buFont typeface="Wingdings" charset="2"/>
              <a:buChar char=""/>
              <a:defRPr lang="en-US" sz="2000" b="0" u="none" strike="noStrike">
                <a:solidFill>
                  <a:schemeClr val="dk1"/>
                </a:solidFill>
                <a:effectLst/>
                <a:uFillTx/>
                <a:latin typeface="Aptos"/>
              </a:defRPr>
            </a:lvl5pPr>
            <a:lvl6pPr lvl="5" algn="l">
              <a:spcBef>
                <a:spcPts val="283"/>
              </a:spcBef>
              <a:buClr>
                <a:srgbClr val="FFFFFF"/>
              </a:buClr>
              <a:buSzPct val="45000"/>
              <a:buFont typeface="Wingdings" charset="2"/>
              <a:buChar char=""/>
              <a:defRPr lang="en-US" sz="2000" b="0" u="none" strike="noStrike">
                <a:solidFill>
                  <a:schemeClr val="dk1"/>
                </a:solidFill>
                <a:effectLst/>
                <a:uFillTx/>
                <a:latin typeface="Aptos"/>
              </a:defRPr>
            </a:lvl6pPr>
            <a:lvl7pPr lvl="6" algn="l">
              <a:spcBef>
                <a:spcPts val="283"/>
              </a:spcBef>
              <a:buClr>
                <a:srgbClr val="FFFFFF"/>
              </a:buClr>
              <a:buSzPct val="45000"/>
              <a:buFont typeface="Wingdings" charset="2"/>
              <a:buChar char=""/>
              <a:defRPr lang="en-US" sz="2000" b="0" u="none" strike="noStrike">
                <a:solidFill>
                  <a:schemeClr val="dk1"/>
                </a:solidFill>
                <a:effectLst/>
                <a:uFillTx/>
                <a:latin typeface="Aptos"/>
              </a:defRPr>
            </a:lvl7pPr>
          </a:lstStyle>
          <a:p>
            <a:pPr marL="432000" indent="-324000" algn="l">
              <a:spcBef>
                <a:spcPts val="1417"/>
              </a:spcBef>
              <a:buClr>
                <a:srgbClr val="FFFFFF"/>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a:spcBef>
                <a:spcPts val="1134"/>
              </a:spcBef>
              <a:buClr>
                <a:srgbClr val="FFFFFF"/>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a:spcBef>
                <a:spcPts val="850"/>
              </a:spcBef>
              <a:buClr>
                <a:srgbClr val="FFFFFF"/>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a:spcBef>
                <a:spcPts val="567"/>
              </a:spcBef>
              <a:buClr>
                <a:srgbClr val="FFFFFF"/>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a:spcBef>
                <a:spcPts val="283"/>
              </a:spcBef>
              <a:buClr>
                <a:srgbClr val="FFFFFF"/>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spcBef>
                <a:spcPts val="283"/>
              </a:spcBef>
              <a:buClr>
                <a:srgbClr val="FFFFFF"/>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spcBef>
                <a:spcPts val="283"/>
              </a:spcBef>
              <a:buClr>
                <a:srgbClr val="FFFFFF"/>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0D1A"/>
        </a:solidFill>
      </p:bgPr>
    </p:bg>
    <p:spTree>
      <p:nvGrpSpPr>
        <p:cNvPr id="1" name=""/>
        <p:cNvGrpSpPr/>
        <p:nvPr/>
      </p:nvGrpSpPr>
      <p:grpSpPr>
        <a:xfrm>
          <a:off x="0" y="0"/>
          <a:ext cx="0" cy="0"/>
          <a:chOff x="0" y="0"/>
          <a:chExt cx="0" cy="0"/>
        </a:xfrm>
      </p:grpSpPr>
      <p:pic>
        <p:nvPicPr>
          <p:cNvPr id="15" name="Image 0" descr="generated_images/exec-68741de7-b25a-426c-a9f2-c9f78184b2d4.png"/>
          <p:cNvPicPr/>
          <p:nvPr/>
        </p:nvPicPr>
        <p:blipFill>
          <a:blip r:embed="rId1"/>
          <a:stretch/>
        </p:blipFill>
        <p:spPr>
          <a:xfrm>
            <a:off x="0" y="0"/>
            <a:ext cx="12191400" cy="6857640"/>
          </a:xfrm>
          <a:prstGeom prst="rect">
            <a:avLst/>
          </a:prstGeom>
          <a:noFill/>
          <a:ln w="0">
            <a:noFill/>
          </a:ln>
        </p:spPr>
      </p:pic>
      <p:sp>
        <p:nvSpPr>
          <p:cNvPr id="16" name="Shape 0"/>
          <p:cNvSpPr/>
          <p:nvPr/>
        </p:nvSpPr>
        <p:spPr>
          <a:xfrm>
            <a:off x="0" y="0"/>
            <a:ext cx="5714640" cy="6857640"/>
          </a:xfrm>
          <a:prstGeom prst="rect">
            <a:avLst/>
          </a:prstGeom>
          <a:solidFill>
            <a:srgbClr val="070D1A">
              <a:alpha val="96000"/>
            </a:srgbClr>
          </a:solidFill>
          <a:ln w="12700">
            <a:solidFill>
              <a:srgbClr val="070D1A">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7" name="Text 1"/>
          <p:cNvSpPr/>
          <p:nvPr/>
        </p:nvSpPr>
        <p:spPr>
          <a:xfrm>
            <a:off x="640080" y="658440"/>
            <a:ext cx="2194200" cy="3106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500" b="1" u="none" strike="noStrike">
                <a:solidFill>
                  <a:srgbClr val="42DBFF"/>
                </a:solidFill>
                <a:effectLst/>
                <a:uFillTx/>
                <a:latin typeface="Aptos"/>
                <a:ea typeface="Aptos"/>
              </a:rPr>
              <a:t>.NET NEWS</a:t>
            </a:r>
            <a:endParaRPr lang="en-US" sz="1500" b="0" u="none" strike="noStrike">
              <a:solidFill>
                <a:srgbClr val="FFFFFF"/>
              </a:solidFill>
              <a:effectLst/>
              <a:uFillTx/>
              <a:latin typeface="Arial"/>
            </a:endParaRPr>
          </a:p>
        </p:txBody>
      </p:sp>
      <p:sp>
        <p:nvSpPr>
          <p:cNvPr id="18" name="Text 2"/>
          <p:cNvSpPr/>
          <p:nvPr/>
        </p:nvSpPr>
        <p:spPr>
          <a:xfrm>
            <a:off x="640080" y="1353240"/>
            <a:ext cx="4571640" cy="15998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4300" b="1" u="none" strike="noStrike">
                <a:solidFill>
                  <a:srgbClr val="F8FAFF"/>
                </a:solidFill>
                <a:effectLst/>
                <a:uFillTx/>
                <a:latin typeface="Aptos"/>
                <a:ea typeface="Aptos"/>
              </a:rPr>
              <a:t>Five stories</a:t>
            </a:r>
            <a:endParaRPr lang="en-US" sz="4300" b="0" u="none" strike="noStrike">
              <a:solidFill>
                <a:srgbClr val="FFFFFF"/>
              </a:solidFill>
              <a:effectLst/>
              <a:uFillTx/>
              <a:latin typeface="Arial"/>
            </a:endParaRPr>
          </a:p>
          <a:p>
            <a:pPr defTabSz="914400">
              <a:lnSpc>
                <a:spcPct val="100000"/>
              </a:lnSpc>
              <a:tabLst>
                <a:tab pos="0" algn="l"/>
              </a:tabLst>
            </a:pPr>
            <a:r>
              <a:rPr lang="en-US" sz="4300" b="1" u="none" strike="noStrike">
                <a:solidFill>
                  <a:srgbClr val="F8FAFF"/>
                </a:solidFill>
                <a:effectLst/>
                <a:uFillTx/>
                <a:latin typeface="Aptos"/>
                <a:ea typeface="Aptos"/>
              </a:rPr>
              <a:t>that matter</a:t>
            </a:r>
            <a:endParaRPr lang="en-US" sz="4300" b="0" u="none" strike="noStrike">
              <a:solidFill>
                <a:srgbClr val="FFFFFF"/>
              </a:solidFill>
              <a:effectLst/>
              <a:uFillTx/>
              <a:latin typeface="Arial"/>
            </a:endParaRPr>
          </a:p>
        </p:txBody>
      </p:sp>
      <p:sp>
        <p:nvSpPr>
          <p:cNvPr id="19" name="Text 3"/>
          <p:cNvSpPr/>
          <p:nvPr/>
        </p:nvSpPr>
        <p:spPr>
          <a:xfrm>
            <a:off x="640080" y="3273480"/>
            <a:ext cx="3931560" cy="4111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400" b="1" u="none" strike="noStrike">
                <a:solidFill>
                  <a:srgbClr val="9175FF"/>
                </a:solidFill>
                <a:effectLst/>
                <a:uFillTx/>
                <a:latin typeface="Aptos"/>
                <a:ea typeface="Aptos"/>
              </a:rPr>
              <a:t>June–August 2026</a:t>
            </a:r>
            <a:endParaRPr lang="en-US" sz="2400" b="0" u="none" strike="noStrike">
              <a:solidFill>
                <a:srgbClr val="FFFFFF"/>
              </a:solidFill>
              <a:effectLst/>
              <a:uFillTx/>
              <a:latin typeface="Arial"/>
            </a:endParaRPr>
          </a:p>
        </p:txBody>
      </p:sp>
      <p:sp>
        <p:nvSpPr>
          <p:cNvPr id="20" name="Text 4"/>
          <p:cNvSpPr/>
          <p:nvPr/>
        </p:nvSpPr>
        <p:spPr>
          <a:xfrm>
            <a:off x="640080" y="4096440"/>
            <a:ext cx="3840120" cy="3654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600" b="0" u="none" strike="noStrike">
                <a:solidFill>
                  <a:srgbClr val="AEB9CC"/>
                </a:solidFill>
                <a:effectLst/>
                <a:uFillTx/>
                <a:latin typeface="Aptos"/>
                <a:ea typeface="Aptos"/>
              </a:rPr>
              <a:t>30 minutes  /  developer edition</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Shape 0"/>
          <p:cNvSpPr/>
          <p:nvPr/>
        </p:nvSpPr>
        <p:spPr>
          <a:xfrm>
            <a:off x="502920" y="311040"/>
            <a:ext cx="1599840" cy="301320"/>
          </a:xfrm>
          <a:prstGeom prst="roundRect">
            <a:avLst>
              <a:gd name="adj" fmla="val 48485"/>
            </a:avLst>
          </a:prstGeom>
          <a:solidFill>
            <a:srgbClr val="9175FF"/>
          </a:solidFill>
          <a:ln w="12700">
            <a:solidFill>
              <a:srgbClr val="9175FF">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22" name="Text 1"/>
          <p:cNvSpPr/>
          <p:nvPr/>
        </p:nvSpPr>
        <p:spPr>
          <a:xfrm>
            <a:off x="603360" y="356760"/>
            <a:ext cx="1389600" cy="13680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900" b="1" u="none" strike="noStrike">
                <a:solidFill>
                  <a:srgbClr val="F8FAFF"/>
                </a:solidFill>
                <a:effectLst/>
                <a:uFillTx/>
                <a:latin typeface="Aptos"/>
                <a:ea typeface="Aptos"/>
              </a:rPr>
              <a:t>OVERVIEW</a:t>
            </a:r>
            <a:endParaRPr lang="en-US" sz="900" b="0" u="none" strike="noStrike">
              <a:solidFill>
                <a:srgbClr val="FFFFFF"/>
              </a:solidFill>
              <a:effectLst/>
              <a:uFillTx/>
              <a:latin typeface="Arial"/>
            </a:endParaRPr>
          </a:p>
        </p:txBody>
      </p:sp>
      <p:sp>
        <p:nvSpPr>
          <p:cNvPr id="23" name="Text 2"/>
          <p:cNvSpPr/>
          <p:nvPr/>
        </p:nvSpPr>
        <p:spPr>
          <a:xfrm>
            <a:off x="502920" y="768240"/>
            <a:ext cx="10972440" cy="502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900" b="1" u="none" strike="noStrike">
                <a:solidFill>
                  <a:srgbClr val="F8FAFF"/>
                </a:solidFill>
                <a:effectLst/>
                <a:uFillTx/>
                <a:latin typeface="Aptos"/>
                <a:ea typeface="Aptos"/>
              </a:rPr>
              <a:t>Today’s route</a:t>
            </a:r>
            <a:endParaRPr lang="en-US" sz="2900" b="0" u="none" strike="noStrike">
              <a:solidFill>
                <a:srgbClr val="FFFFFF"/>
              </a:solidFill>
              <a:effectLst/>
              <a:uFillTx/>
              <a:latin typeface="Arial"/>
            </a:endParaRPr>
          </a:p>
        </p:txBody>
      </p:sp>
      <p:sp>
        <p:nvSpPr>
          <p:cNvPr id="24" name="Text 3"/>
          <p:cNvSpPr/>
          <p:nvPr/>
        </p:nvSpPr>
        <p:spPr>
          <a:xfrm>
            <a:off x="731520" y="1417320"/>
            <a:ext cx="639720" cy="5299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3000" b="1" u="none" strike="noStrike">
                <a:solidFill>
                  <a:srgbClr val="42DBFF"/>
                </a:solidFill>
                <a:effectLst/>
                <a:uFillTx/>
                <a:latin typeface="Aptos"/>
                <a:ea typeface="Aptos"/>
              </a:rPr>
              <a:t>1</a:t>
            </a:r>
            <a:endParaRPr lang="en-US" sz="3000" b="0" u="none" strike="noStrike">
              <a:solidFill>
                <a:srgbClr val="FFFFFF"/>
              </a:solidFill>
              <a:effectLst/>
              <a:uFillTx/>
              <a:latin typeface="Arial"/>
            </a:endParaRPr>
          </a:p>
        </p:txBody>
      </p:sp>
      <p:sp>
        <p:nvSpPr>
          <p:cNvPr id="25" name="Text 4"/>
          <p:cNvSpPr/>
          <p:nvPr/>
        </p:nvSpPr>
        <p:spPr>
          <a:xfrm>
            <a:off x="1645920" y="1417320"/>
            <a:ext cx="8960760" cy="5299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400" b="1" u="none" strike="noStrike">
                <a:solidFill>
                  <a:srgbClr val="F8FAFF"/>
                </a:solidFill>
                <a:effectLst/>
                <a:uFillTx/>
                <a:latin typeface="Aptos"/>
                <a:ea typeface="Aptos"/>
              </a:rPr>
              <a:t>Model states safely</a:t>
            </a:r>
            <a:endParaRPr lang="en-US" sz="2400" b="0" u="none" strike="noStrike">
              <a:solidFill>
                <a:srgbClr val="FFFFFF"/>
              </a:solidFill>
              <a:effectLst/>
              <a:uFillTx/>
              <a:latin typeface="Arial"/>
            </a:endParaRPr>
          </a:p>
        </p:txBody>
      </p:sp>
      <p:sp>
        <p:nvSpPr>
          <p:cNvPr id="26" name="Text 5"/>
          <p:cNvSpPr/>
          <p:nvPr/>
        </p:nvSpPr>
        <p:spPr>
          <a:xfrm>
            <a:off x="731520" y="2313360"/>
            <a:ext cx="639720" cy="5299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3000" b="1" u="none" strike="noStrike">
                <a:solidFill>
                  <a:srgbClr val="60E5A1"/>
                </a:solidFill>
                <a:effectLst/>
                <a:uFillTx/>
                <a:latin typeface="Aptos"/>
                <a:ea typeface="Aptos"/>
              </a:rPr>
              <a:t>2</a:t>
            </a:r>
            <a:endParaRPr lang="en-US" sz="3000" b="0" u="none" strike="noStrike">
              <a:solidFill>
                <a:srgbClr val="FFFFFF"/>
              </a:solidFill>
              <a:effectLst/>
              <a:uFillTx/>
              <a:latin typeface="Arial"/>
            </a:endParaRPr>
          </a:p>
        </p:txBody>
      </p:sp>
      <p:sp>
        <p:nvSpPr>
          <p:cNvPr id="27" name="Text 6"/>
          <p:cNvSpPr/>
          <p:nvPr/>
        </p:nvSpPr>
        <p:spPr>
          <a:xfrm>
            <a:off x="1645920" y="2313360"/>
            <a:ext cx="8960760" cy="5299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400" b="1" u="none" strike="noStrike">
                <a:solidFill>
                  <a:srgbClr val="F8FAFF"/>
                </a:solidFill>
                <a:effectLst/>
                <a:uFillTx/>
                <a:latin typeface="Aptos"/>
                <a:ea typeface="Aptos"/>
              </a:rPr>
              <a:t>Build safer web apps</a:t>
            </a:r>
            <a:endParaRPr lang="en-US" sz="2400" b="0" u="none" strike="noStrike">
              <a:solidFill>
                <a:srgbClr val="FFFFFF"/>
              </a:solidFill>
              <a:effectLst/>
              <a:uFillTx/>
              <a:latin typeface="Arial"/>
            </a:endParaRPr>
          </a:p>
        </p:txBody>
      </p:sp>
      <p:sp>
        <p:nvSpPr>
          <p:cNvPr id="28" name="Text 7"/>
          <p:cNvSpPr/>
          <p:nvPr/>
        </p:nvSpPr>
        <p:spPr>
          <a:xfrm>
            <a:off x="731520" y="3209400"/>
            <a:ext cx="639720" cy="5299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3000" b="1" u="none" strike="noStrike">
                <a:solidFill>
                  <a:srgbClr val="9175FF"/>
                </a:solidFill>
                <a:effectLst/>
                <a:uFillTx/>
                <a:latin typeface="Aptos"/>
                <a:ea typeface="Aptos"/>
              </a:rPr>
              <a:t>3</a:t>
            </a:r>
            <a:endParaRPr lang="en-US" sz="3000" b="0" u="none" strike="noStrike">
              <a:solidFill>
                <a:srgbClr val="FFFFFF"/>
              </a:solidFill>
              <a:effectLst/>
              <a:uFillTx/>
              <a:latin typeface="Arial"/>
            </a:endParaRPr>
          </a:p>
        </p:txBody>
      </p:sp>
      <p:sp>
        <p:nvSpPr>
          <p:cNvPr id="29" name="Text 8"/>
          <p:cNvSpPr/>
          <p:nvPr/>
        </p:nvSpPr>
        <p:spPr>
          <a:xfrm>
            <a:off x="1645920" y="3209400"/>
            <a:ext cx="8960760" cy="5299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400" b="1" u="none" strike="noStrike">
                <a:solidFill>
                  <a:srgbClr val="F8FAFF"/>
                </a:solidFill>
                <a:effectLst/>
                <a:uFillTx/>
                <a:latin typeface="Aptos"/>
                <a:ea typeface="Aptos"/>
              </a:rPr>
              <a:t>Control your test runs</a:t>
            </a:r>
            <a:endParaRPr lang="en-US" sz="2400" b="0" u="none" strike="noStrike">
              <a:solidFill>
                <a:srgbClr val="FFFFFF"/>
              </a:solidFill>
              <a:effectLst/>
              <a:uFillTx/>
              <a:latin typeface="Arial"/>
            </a:endParaRPr>
          </a:p>
        </p:txBody>
      </p:sp>
      <p:sp>
        <p:nvSpPr>
          <p:cNvPr id="30" name="Text 9"/>
          <p:cNvSpPr/>
          <p:nvPr/>
        </p:nvSpPr>
        <p:spPr>
          <a:xfrm>
            <a:off x="731520" y="4105800"/>
            <a:ext cx="639720" cy="5299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3000" b="1" u="none" strike="noStrike">
                <a:solidFill>
                  <a:srgbClr val="FFB55F"/>
                </a:solidFill>
                <a:effectLst/>
                <a:uFillTx/>
                <a:latin typeface="Aptos"/>
                <a:ea typeface="Aptos"/>
              </a:rPr>
              <a:t>4</a:t>
            </a:r>
            <a:endParaRPr lang="en-US" sz="3000" b="0" u="none" strike="noStrike">
              <a:solidFill>
                <a:srgbClr val="FFFFFF"/>
              </a:solidFill>
              <a:effectLst/>
              <a:uFillTx/>
              <a:latin typeface="Arial"/>
            </a:endParaRPr>
          </a:p>
        </p:txBody>
      </p:sp>
      <p:sp>
        <p:nvSpPr>
          <p:cNvPr id="31" name="Text 10"/>
          <p:cNvSpPr/>
          <p:nvPr/>
        </p:nvSpPr>
        <p:spPr>
          <a:xfrm>
            <a:off x="1645920" y="4105800"/>
            <a:ext cx="8960760" cy="5299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400" b="1" u="none" strike="noStrike">
                <a:solidFill>
                  <a:srgbClr val="F8FAFF"/>
                </a:solidFill>
                <a:effectLst/>
                <a:uFillTx/>
                <a:latin typeface="Aptos"/>
                <a:ea typeface="Aptos"/>
              </a:rPr>
              <a:t>Ship smaller apps</a:t>
            </a:r>
            <a:endParaRPr lang="en-US" sz="2400" b="0" u="none" strike="noStrike">
              <a:solidFill>
                <a:srgbClr val="FFFFFF"/>
              </a:solidFill>
              <a:effectLst/>
              <a:uFillTx/>
              <a:latin typeface="Arial"/>
            </a:endParaRPr>
          </a:p>
        </p:txBody>
      </p:sp>
      <p:sp>
        <p:nvSpPr>
          <p:cNvPr id="32" name="Text 11"/>
          <p:cNvSpPr/>
          <p:nvPr/>
        </p:nvSpPr>
        <p:spPr>
          <a:xfrm>
            <a:off x="731520" y="5001840"/>
            <a:ext cx="639720" cy="5299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3000" b="1" u="none" strike="noStrike">
                <a:solidFill>
                  <a:srgbClr val="FF718E"/>
                </a:solidFill>
                <a:effectLst/>
                <a:uFillTx/>
                <a:latin typeface="Aptos"/>
                <a:ea typeface="Aptos"/>
              </a:rPr>
              <a:t>5</a:t>
            </a:r>
            <a:endParaRPr lang="en-US" sz="3000" b="0" u="none" strike="noStrike">
              <a:solidFill>
                <a:srgbClr val="FFFFFF"/>
              </a:solidFill>
              <a:effectLst/>
              <a:uFillTx/>
              <a:latin typeface="Arial"/>
            </a:endParaRPr>
          </a:p>
        </p:txBody>
      </p:sp>
      <p:sp>
        <p:nvSpPr>
          <p:cNvPr id="33" name="Text 12"/>
          <p:cNvSpPr/>
          <p:nvPr/>
        </p:nvSpPr>
        <p:spPr>
          <a:xfrm>
            <a:off x="1645920" y="5001840"/>
            <a:ext cx="8960760" cy="5299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400" b="1" u="none" strike="noStrike">
                <a:solidFill>
                  <a:srgbClr val="F8FAFF"/>
                </a:solidFill>
                <a:effectLst/>
                <a:uFillTx/>
                <a:latin typeface="Aptos"/>
                <a:ea typeface="Aptos"/>
              </a:rPr>
              <a:t>Beat the support deadline</a:t>
            </a:r>
            <a:endParaRPr lang="en-US" sz="2400" b="0" u="none" strike="noStrike">
              <a:solidFill>
                <a:srgbClr val="FFFFFF"/>
              </a:solidFill>
              <a:effectLst/>
              <a:uFillTx/>
              <a:latin typeface="Arial"/>
            </a:endParaRPr>
          </a:p>
        </p:txBody>
      </p:sp>
      <p:sp>
        <p:nvSpPr>
          <p:cNvPr id="34" name="PlaceHolder 1"/>
          <p:cNvSpPr>
            <a:spLocks noGrp="1"/>
          </p:cNvSpPr>
          <p:nvPr>
            <p:ph type="sldNum" idx="5"/>
          </p:nvPr>
        </p:nvSpPr>
        <p:spPr>
          <a:xfrm>
            <a:off x="11521440" y="651060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800" b="0" u="none" strike="noStrike">
                <a:solidFill>
                  <a:srgbClr val="71809A"/>
                </a:solidFill>
                <a:effectLst/>
                <a:uFillTx/>
                <a:latin typeface="Aptos"/>
                <a:ea typeface="Aptos"/>
              </a:defRPr>
            </a:lvl1pPr>
          </a:lstStyle>
          <a:p>
            <a:pPr indent="0" algn="l" defTabSz="914400">
              <a:lnSpc>
                <a:spcPct val="100000"/>
              </a:lnSpc>
              <a:buNone/>
            </a:pPr>
            <a:fld id="{85F872A6-5D13-413E-9C54-22E6D13A86D7}" type="slidenum">
              <a:rPr lang="en-US" sz="800" b="0" u="none" strike="noStrike">
                <a:solidFill>
                  <a:srgbClr val="71809A"/>
                </a:solidFill>
                <a:effectLst/>
                <a:uFillTx/>
                <a:latin typeface="Aptos"/>
                <a:ea typeface="Aptos"/>
              </a:rPr>
              <a:t>2</a:t>
            </a:fld>
            <a:endParaRPr lang="en-US" sz="8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0D1A"/>
        </a:solidFill>
      </p:bgPr>
    </p:bg>
    <p:spTree>
      <p:nvGrpSpPr>
        <p:cNvPr id="1" name=""/>
        <p:cNvGrpSpPr/>
        <p:nvPr/>
      </p:nvGrpSpPr>
      <p:grpSpPr>
        <a:xfrm>
          <a:off x="0" y="0"/>
          <a:ext cx="0" cy="0"/>
          <a:chOff x="0" y="0"/>
          <a:chExt cx="0" cy="0"/>
        </a:xfrm>
      </p:grpSpPr>
      <p:pic>
        <p:nvPicPr>
          <p:cNvPr id="35" name="Image 0" descr="generated_images/exec-e2a7c30c-d56c-4f8b-918f-8cc22eb0cedb.png"/>
          <p:cNvPicPr/>
          <p:nvPr/>
        </p:nvPicPr>
        <p:blipFill>
          <a:blip r:embed="rId1"/>
          <a:stretch/>
        </p:blipFill>
        <p:spPr>
          <a:xfrm>
            <a:off x="0" y="0"/>
            <a:ext cx="12191400" cy="6857640"/>
          </a:xfrm>
          <a:prstGeom prst="rect">
            <a:avLst/>
          </a:prstGeom>
          <a:noFill/>
          <a:ln w="0">
            <a:noFill/>
          </a:ln>
        </p:spPr>
      </p:pic>
      <p:sp>
        <p:nvSpPr>
          <p:cNvPr id="36" name="Shape 0"/>
          <p:cNvSpPr/>
          <p:nvPr/>
        </p:nvSpPr>
        <p:spPr>
          <a:xfrm>
            <a:off x="0" y="0"/>
            <a:ext cx="5714640" cy="6857640"/>
          </a:xfrm>
          <a:prstGeom prst="rect">
            <a:avLst/>
          </a:prstGeom>
          <a:solidFill>
            <a:srgbClr val="070D1A">
              <a:alpha val="94000"/>
            </a:srgbClr>
          </a:solidFill>
          <a:ln w="12700">
            <a:solidFill>
              <a:srgbClr val="070D1A">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7" name="Text 1"/>
          <p:cNvSpPr/>
          <p:nvPr/>
        </p:nvSpPr>
        <p:spPr>
          <a:xfrm>
            <a:off x="658440" y="1417320"/>
            <a:ext cx="4708800" cy="13712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3800" b="1" u="none" strike="noStrike">
                <a:solidFill>
                  <a:srgbClr val="F8FAFF"/>
                </a:solidFill>
                <a:effectLst/>
                <a:uFillTx/>
                <a:latin typeface="Aptos"/>
                <a:ea typeface="Aptos"/>
              </a:rPr>
              <a:t>Three previews.</a:t>
            </a:r>
            <a:endParaRPr lang="en-US" sz="3800" b="0" u="none" strike="noStrike">
              <a:solidFill>
                <a:srgbClr val="FFFFFF"/>
              </a:solidFill>
              <a:effectLst/>
              <a:uFillTx/>
              <a:latin typeface="Arial"/>
            </a:endParaRPr>
          </a:p>
          <a:p>
            <a:pPr defTabSz="914400">
              <a:lnSpc>
                <a:spcPct val="100000"/>
              </a:lnSpc>
              <a:tabLst>
                <a:tab pos="0" algn="l"/>
              </a:tabLst>
            </a:pPr>
            <a:r>
              <a:rPr lang="en-US" sz="3800" b="1" u="none" strike="noStrike">
                <a:solidFill>
                  <a:srgbClr val="F8FAFF"/>
                </a:solidFill>
                <a:effectLst/>
                <a:uFillTx/>
                <a:latin typeface="Aptos"/>
                <a:ea typeface="Aptos"/>
              </a:rPr>
              <a:t>One direction.</a:t>
            </a:r>
            <a:endParaRPr lang="en-US" sz="3800" b="0" u="none" strike="noStrike">
              <a:solidFill>
                <a:srgbClr val="FFFFFF"/>
              </a:solidFill>
              <a:effectLst/>
              <a:uFillTx/>
              <a:latin typeface="Arial"/>
            </a:endParaRPr>
          </a:p>
        </p:txBody>
      </p:sp>
      <p:sp>
        <p:nvSpPr>
          <p:cNvPr id="38" name="Text 2"/>
          <p:cNvSpPr/>
          <p:nvPr/>
        </p:nvSpPr>
        <p:spPr>
          <a:xfrm>
            <a:off x="658440" y="3154680"/>
            <a:ext cx="4343040" cy="8683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800" b="0" u="none" strike="noStrike">
                <a:solidFill>
                  <a:srgbClr val="AEB9CC"/>
                </a:solidFill>
                <a:effectLst/>
                <a:uFillTx/>
                <a:latin typeface="Aptos"/>
                <a:ea typeface="Aptos"/>
              </a:rPr>
              <a:t>Preview 5, Preview 6, Preview 7</a:t>
            </a:r>
            <a:endParaRPr lang="en-US" sz="1800" b="0" u="none" strike="noStrike">
              <a:solidFill>
                <a:srgbClr val="FFFFFF"/>
              </a:solidFill>
              <a:effectLst/>
              <a:uFillTx/>
              <a:latin typeface="Arial"/>
            </a:endParaRPr>
          </a:p>
        </p:txBody>
      </p:sp>
      <p:sp>
        <p:nvSpPr>
          <p:cNvPr id="39" name="Shape 3"/>
          <p:cNvSpPr/>
          <p:nvPr/>
        </p:nvSpPr>
        <p:spPr>
          <a:xfrm>
            <a:off x="658080" y="1097280"/>
            <a:ext cx="777240" cy="360"/>
          </a:xfrm>
          <a:prstGeom prst="line">
            <a:avLst/>
          </a:prstGeom>
          <a:ln w="63500">
            <a:solidFill>
              <a:srgbClr val="42DBFF"/>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Shape 0"/>
          <p:cNvSpPr/>
          <p:nvPr/>
        </p:nvSpPr>
        <p:spPr>
          <a:xfrm>
            <a:off x="502920" y="311040"/>
            <a:ext cx="1599840" cy="301320"/>
          </a:xfrm>
          <a:prstGeom prst="roundRect">
            <a:avLst>
              <a:gd name="adj" fmla="val 48485"/>
            </a:avLst>
          </a:prstGeom>
          <a:solidFill>
            <a:srgbClr val="9175FF"/>
          </a:solidFill>
          <a:ln w="12700">
            <a:solidFill>
              <a:srgbClr val="9175FF">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1" name="Text 1"/>
          <p:cNvSpPr/>
          <p:nvPr/>
        </p:nvSpPr>
        <p:spPr>
          <a:xfrm>
            <a:off x="603360" y="356760"/>
            <a:ext cx="1389600" cy="13680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900" b="1" u="none" strike="noStrike">
                <a:solidFill>
                  <a:srgbClr val="F8FAFF"/>
                </a:solidFill>
                <a:effectLst/>
                <a:uFillTx/>
                <a:latin typeface="Aptos"/>
                <a:ea typeface="Aptos"/>
              </a:rPr>
              <a:t>01  RELEASE</a:t>
            </a:r>
            <a:endParaRPr lang="en-US" sz="900" b="0" u="none" strike="noStrike">
              <a:solidFill>
                <a:srgbClr val="FFFFFF"/>
              </a:solidFill>
              <a:effectLst/>
              <a:uFillTx/>
              <a:latin typeface="Arial"/>
            </a:endParaRPr>
          </a:p>
        </p:txBody>
      </p:sp>
      <p:sp>
        <p:nvSpPr>
          <p:cNvPr id="42" name="Text 2"/>
          <p:cNvSpPr/>
          <p:nvPr/>
        </p:nvSpPr>
        <p:spPr>
          <a:xfrm>
            <a:off x="502920" y="768240"/>
            <a:ext cx="10972440" cy="502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900" b="1" u="none" strike="noStrike">
                <a:solidFill>
                  <a:srgbClr val="F8FAFF"/>
                </a:solidFill>
                <a:effectLst/>
                <a:uFillTx/>
                <a:latin typeface="Aptos"/>
                <a:ea typeface="Aptos"/>
              </a:rPr>
              <a:t>The preview train</a:t>
            </a:r>
            <a:endParaRPr lang="en-US" sz="2900" b="0" u="none" strike="noStrike">
              <a:solidFill>
                <a:srgbClr val="FFFFFF"/>
              </a:solidFill>
              <a:effectLst/>
              <a:uFillTx/>
              <a:latin typeface="Arial"/>
            </a:endParaRPr>
          </a:p>
        </p:txBody>
      </p:sp>
      <p:sp>
        <p:nvSpPr>
          <p:cNvPr id="43" name="Text 3"/>
          <p:cNvSpPr/>
          <p:nvPr/>
        </p:nvSpPr>
        <p:spPr>
          <a:xfrm>
            <a:off x="658440" y="1481400"/>
            <a:ext cx="914040" cy="4568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000" b="1" u="none" strike="noStrike">
                <a:solidFill>
                  <a:srgbClr val="42DBFF"/>
                </a:solidFill>
                <a:effectLst/>
                <a:uFillTx/>
                <a:latin typeface="Aptos"/>
                <a:ea typeface="Aptos"/>
              </a:rPr>
              <a:t>P5</a:t>
            </a:r>
            <a:endParaRPr lang="en-US" sz="3000" b="0" u="none" strike="noStrike">
              <a:solidFill>
                <a:srgbClr val="FFFFFF"/>
              </a:solidFill>
              <a:effectLst/>
              <a:uFillTx/>
              <a:latin typeface="Arial"/>
            </a:endParaRPr>
          </a:p>
        </p:txBody>
      </p:sp>
      <p:sp>
        <p:nvSpPr>
          <p:cNvPr id="44" name="Text 4"/>
          <p:cNvSpPr/>
          <p:nvPr/>
        </p:nvSpPr>
        <p:spPr>
          <a:xfrm>
            <a:off x="658440" y="2121480"/>
            <a:ext cx="3245760" cy="2923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00" b="1" u="none" strike="noStrike">
                <a:solidFill>
                  <a:srgbClr val="AEB9CC"/>
                </a:solidFill>
                <a:effectLst/>
                <a:uFillTx/>
                <a:latin typeface="Aptos"/>
                <a:ea typeface="Aptos"/>
              </a:rPr>
              <a:t>BUILDING BLOCKS</a:t>
            </a:r>
            <a:endParaRPr lang="en-US" sz="1300" b="0" u="none" strike="noStrike">
              <a:solidFill>
                <a:srgbClr val="FFFFFF"/>
              </a:solidFill>
              <a:effectLst/>
              <a:uFillTx/>
              <a:latin typeface="Arial"/>
            </a:endParaRPr>
          </a:p>
        </p:txBody>
      </p:sp>
      <p:sp>
        <p:nvSpPr>
          <p:cNvPr id="45" name="Shape 5"/>
          <p:cNvSpPr/>
          <p:nvPr/>
        </p:nvSpPr>
        <p:spPr>
          <a:xfrm>
            <a:off x="658440" y="2651760"/>
            <a:ext cx="3337200" cy="2239920"/>
          </a:xfrm>
          <a:prstGeom prst="roundRect">
            <a:avLst>
              <a:gd name="adj" fmla="val 8163"/>
            </a:avLst>
          </a:prstGeom>
          <a:solidFill>
            <a:srgbClr val="111D34"/>
          </a:solidFill>
          <a:ln w="12700">
            <a:solidFill>
              <a:srgbClr val="111D34">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46" name="Text 6"/>
          <p:cNvSpPr/>
          <p:nvPr/>
        </p:nvSpPr>
        <p:spPr>
          <a:xfrm>
            <a:off x="932760" y="2926080"/>
            <a:ext cx="2742840" cy="15084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2000" b="1" u="none" strike="noStrike">
                <a:solidFill>
                  <a:srgbClr val="F8FAFF"/>
                </a:solidFill>
                <a:effectLst/>
                <a:uFillTx/>
                <a:latin typeface="Aptos"/>
                <a:ea typeface="Aptos"/>
              </a:rPr>
              <a:t>JSON Lines</a:t>
            </a:r>
            <a:endParaRPr lang="en-US" sz="2000" b="0" u="none" strike="noStrike">
              <a:solidFill>
                <a:srgbClr val="FFFFFF"/>
              </a:solidFill>
              <a:effectLst/>
              <a:uFillTx/>
              <a:latin typeface="Arial"/>
            </a:endParaRPr>
          </a:p>
          <a:p>
            <a:pPr defTabSz="914400">
              <a:lnSpc>
                <a:spcPct val="100000"/>
              </a:lnSpc>
              <a:tabLst>
                <a:tab pos="0" algn="l"/>
              </a:tabLst>
            </a:pPr>
            <a:r>
              <a:rPr lang="en-US" sz="2000" b="1" u="none" strike="noStrike">
                <a:solidFill>
                  <a:srgbClr val="F8FAFF"/>
                </a:solidFill>
                <a:effectLst/>
                <a:uFillTx/>
                <a:latin typeface="Aptos"/>
                <a:ea typeface="Aptos"/>
              </a:rPr>
              <a:t>Full outer joins</a:t>
            </a:r>
            <a:endParaRPr lang="en-US" sz="2000" b="0" u="none" strike="noStrike">
              <a:solidFill>
                <a:srgbClr val="FFFFFF"/>
              </a:solidFill>
              <a:effectLst/>
              <a:uFillTx/>
              <a:latin typeface="Arial"/>
            </a:endParaRPr>
          </a:p>
          <a:p>
            <a:pPr defTabSz="914400">
              <a:lnSpc>
                <a:spcPct val="100000"/>
              </a:lnSpc>
              <a:tabLst>
                <a:tab pos="0" algn="l"/>
              </a:tabLst>
            </a:pPr>
            <a:r>
              <a:rPr lang="en-US" sz="2000" b="1" u="none" strike="noStrike">
                <a:solidFill>
                  <a:srgbClr val="F8FAFF"/>
                </a:solidFill>
                <a:effectLst/>
                <a:uFillTx/>
                <a:latin typeface="Aptos"/>
                <a:ea typeface="Aptos"/>
              </a:rPr>
              <a:t>Union declarations</a:t>
            </a:r>
            <a:endParaRPr lang="en-US" sz="2000" b="0" u="none" strike="noStrike">
              <a:solidFill>
                <a:srgbClr val="FFFFFF"/>
              </a:solidFill>
              <a:effectLst/>
              <a:uFillTx/>
              <a:latin typeface="Arial"/>
            </a:endParaRPr>
          </a:p>
        </p:txBody>
      </p:sp>
      <p:sp>
        <p:nvSpPr>
          <p:cNvPr id="47" name="Text 7"/>
          <p:cNvSpPr/>
          <p:nvPr/>
        </p:nvSpPr>
        <p:spPr>
          <a:xfrm>
            <a:off x="4480560" y="1481400"/>
            <a:ext cx="914040" cy="4568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000" b="1" u="none" strike="noStrike">
                <a:solidFill>
                  <a:srgbClr val="9175FF"/>
                </a:solidFill>
                <a:effectLst/>
                <a:uFillTx/>
                <a:latin typeface="Aptos"/>
                <a:ea typeface="Aptos"/>
              </a:rPr>
              <a:t>P6</a:t>
            </a:r>
            <a:endParaRPr lang="en-US" sz="3000" b="0" u="none" strike="noStrike">
              <a:solidFill>
                <a:srgbClr val="FFFFFF"/>
              </a:solidFill>
              <a:effectLst/>
              <a:uFillTx/>
              <a:latin typeface="Arial"/>
            </a:endParaRPr>
          </a:p>
        </p:txBody>
      </p:sp>
      <p:sp>
        <p:nvSpPr>
          <p:cNvPr id="48" name="Text 8"/>
          <p:cNvSpPr/>
          <p:nvPr/>
        </p:nvSpPr>
        <p:spPr>
          <a:xfrm>
            <a:off x="4480560" y="2121480"/>
            <a:ext cx="3245760" cy="2923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00" b="1" u="none" strike="noStrike">
                <a:solidFill>
                  <a:srgbClr val="AEB9CC"/>
                </a:solidFill>
                <a:effectLst/>
                <a:uFillTx/>
                <a:latin typeface="Aptos"/>
                <a:ea typeface="Aptos"/>
              </a:rPr>
              <a:t>CONNECTED STACK</a:t>
            </a:r>
            <a:endParaRPr lang="en-US" sz="1300" b="0" u="none" strike="noStrike">
              <a:solidFill>
                <a:srgbClr val="FFFFFF"/>
              </a:solidFill>
              <a:effectLst/>
              <a:uFillTx/>
              <a:latin typeface="Arial"/>
            </a:endParaRPr>
          </a:p>
        </p:txBody>
      </p:sp>
      <p:sp>
        <p:nvSpPr>
          <p:cNvPr id="49" name="Shape 9"/>
          <p:cNvSpPr/>
          <p:nvPr/>
        </p:nvSpPr>
        <p:spPr>
          <a:xfrm>
            <a:off x="4480560" y="2651760"/>
            <a:ext cx="3337200" cy="2239920"/>
          </a:xfrm>
          <a:prstGeom prst="roundRect">
            <a:avLst>
              <a:gd name="adj" fmla="val 8163"/>
            </a:avLst>
          </a:prstGeom>
          <a:solidFill>
            <a:srgbClr val="111D34"/>
          </a:solidFill>
          <a:ln w="12700">
            <a:solidFill>
              <a:srgbClr val="111D34">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0" name="Text 10"/>
          <p:cNvSpPr/>
          <p:nvPr/>
        </p:nvSpPr>
        <p:spPr>
          <a:xfrm>
            <a:off x="4754880" y="2926080"/>
            <a:ext cx="2742840" cy="15084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2000" b="1" u="none" strike="noStrike">
                <a:solidFill>
                  <a:srgbClr val="F8FAFF"/>
                </a:solidFill>
                <a:effectLst/>
                <a:uFillTx/>
                <a:latin typeface="Aptos"/>
                <a:ea typeface="Aptos"/>
              </a:rPr>
              <a:t>Async validation</a:t>
            </a:r>
            <a:endParaRPr lang="en-US" sz="2000" b="0" u="none" strike="noStrike">
              <a:solidFill>
                <a:srgbClr val="FFFFFF"/>
              </a:solidFill>
              <a:effectLst/>
              <a:uFillTx/>
              <a:latin typeface="Arial"/>
            </a:endParaRPr>
          </a:p>
          <a:p>
            <a:pPr defTabSz="914400">
              <a:lnSpc>
                <a:spcPct val="100000"/>
              </a:lnSpc>
              <a:tabLst>
                <a:tab pos="0" algn="l"/>
              </a:tabLst>
            </a:pPr>
            <a:r>
              <a:rPr lang="en-US" sz="2000" b="1" u="none" strike="noStrike">
                <a:solidFill>
                  <a:srgbClr val="F8FAFF"/>
                </a:solidFill>
                <a:effectLst/>
                <a:uFillTx/>
                <a:latin typeface="Aptos"/>
                <a:ea typeface="Aptos"/>
              </a:rPr>
              <a:t>OpenAPI 3.2</a:t>
            </a:r>
            <a:endParaRPr lang="en-US" sz="2000" b="0" u="none" strike="noStrike">
              <a:solidFill>
                <a:srgbClr val="FFFFFF"/>
              </a:solidFill>
              <a:effectLst/>
              <a:uFillTx/>
              <a:latin typeface="Arial"/>
            </a:endParaRPr>
          </a:p>
          <a:p>
            <a:pPr defTabSz="914400">
              <a:lnSpc>
                <a:spcPct val="100000"/>
              </a:lnSpc>
              <a:tabLst>
                <a:tab pos="0" algn="l"/>
              </a:tabLst>
            </a:pPr>
            <a:r>
              <a:rPr lang="en-US" sz="2000" b="1" u="none" strike="noStrike">
                <a:solidFill>
                  <a:srgbClr val="F8FAFF"/>
                </a:solidFill>
                <a:effectLst/>
                <a:uFillTx/>
                <a:latin typeface="Aptos"/>
                <a:ea typeface="Aptos"/>
              </a:rPr>
              <a:t>AOT CLI</a:t>
            </a:r>
            <a:endParaRPr lang="en-US" sz="2000" b="0" u="none" strike="noStrike">
              <a:solidFill>
                <a:srgbClr val="FFFFFF"/>
              </a:solidFill>
              <a:effectLst/>
              <a:uFillTx/>
              <a:latin typeface="Arial"/>
            </a:endParaRPr>
          </a:p>
        </p:txBody>
      </p:sp>
      <p:sp>
        <p:nvSpPr>
          <p:cNvPr id="51" name="Text 11"/>
          <p:cNvSpPr/>
          <p:nvPr/>
        </p:nvSpPr>
        <p:spPr>
          <a:xfrm>
            <a:off x="8302680" y="1481400"/>
            <a:ext cx="914040" cy="4568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000" b="1" u="none" strike="noStrike">
                <a:solidFill>
                  <a:srgbClr val="60E5A1"/>
                </a:solidFill>
                <a:effectLst/>
                <a:uFillTx/>
                <a:latin typeface="Aptos"/>
                <a:ea typeface="Aptos"/>
              </a:rPr>
              <a:t>P7</a:t>
            </a:r>
            <a:endParaRPr lang="en-US" sz="3000" b="0" u="none" strike="noStrike">
              <a:solidFill>
                <a:srgbClr val="FFFFFF"/>
              </a:solidFill>
              <a:effectLst/>
              <a:uFillTx/>
              <a:latin typeface="Arial"/>
            </a:endParaRPr>
          </a:p>
        </p:txBody>
      </p:sp>
      <p:sp>
        <p:nvSpPr>
          <p:cNvPr id="52" name="Text 12"/>
          <p:cNvSpPr/>
          <p:nvPr/>
        </p:nvSpPr>
        <p:spPr>
          <a:xfrm>
            <a:off x="8302680" y="2121480"/>
            <a:ext cx="3245760" cy="2923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00" b="1" u="none" strike="noStrike">
                <a:solidFill>
                  <a:srgbClr val="AEB9CC"/>
                </a:solidFill>
                <a:effectLst/>
                <a:uFillTx/>
                <a:latin typeface="Aptos"/>
                <a:ea typeface="Aptos"/>
              </a:rPr>
              <a:t>READY FOR WORK</a:t>
            </a:r>
            <a:endParaRPr lang="en-US" sz="1300" b="0" u="none" strike="noStrike">
              <a:solidFill>
                <a:srgbClr val="FFFFFF"/>
              </a:solidFill>
              <a:effectLst/>
              <a:uFillTx/>
              <a:latin typeface="Arial"/>
            </a:endParaRPr>
          </a:p>
        </p:txBody>
      </p:sp>
      <p:sp>
        <p:nvSpPr>
          <p:cNvPr id="53" name="Shape 13"/>
          <p:cNvSpPr/>
          <p:nvPr/>
        </p:nvSpPr>
        <p:spPr>
          <a:xfrm>
            <a:off x="8302680" y="2651760"/>
            <a:ext cx="3337200" cy="2239920"/>
          </a:xfrm>
          <a:prstGeom prst="roundRect">
            <a:avLst>
              <a:gd name="adj" fmla="val 8163"/>
            </a:avLst>
          </a:prstGeom>
          <a:solidFill>
            <a:srgbClr val="111D34"/>
          </a:solidFill>
          <a:ln w="12700">
            <a:solidFill>
              <a:srgbClr val="111D34">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4" name="Text 14"/>
          <p:cNvSpPr/>
          <p:nvPr/>
        </p:nvSpPr>
        <p:spPr>
          <a:xfrm>
            <a:off x="8577000" y="2926080"/>
            <a:ext cx="2742840" cy="15084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2000" b="1" u="none" strike="noStrike">
                <a:solidFill>
                  <a:srgbClr val="F8FAFF"/>
                </a:solidFill>
                <a:effectLst/>
                <a:uFillTx/>
                <a:latin typeface="Aptos"/>
                <a:ea typeface="Aptos"/>
              </a:rPr>
              <a:t>Test controls</a:t>
            </a:r>
            <a:endParaRPr lang="en-US" sz="2000" b="0" u="none" strike="noStrike">
              <a:solidFill>
                <a:srgbClr val="FFFFFF"/>
              </a:solidFill>
              <a:effectLst/>
              <a:uFillTx/>
              <a:latin typeface="Arial"/>
            </a:endParaRPr>
          </a:p>
          <a:p>
            <a:pPr defTabSz="914400">
              <a:lnSpc>
                <a:spcPct val="100000"/>
              </a:lnSpc>
              <a:tabLst>
                <a:tab pos="0" algn="l"/>
              </a:tabLst>
            </a:pPr>
            <a:r>
              <a:rPr lang="en-US" sz="2000" b="1" u="none" strike="noStrike">
                <a:solidFill>
                  <a:srgbClr val="F8FAFF"/>
                </a:solidFill>
                <a:effectLst/>
                <a:uFillTx/>
                <a:latin typeface="Aptos"/>
                <a:ea typeface="Aptos"/>
              </a:rPr>
              <a:t>HTTP compression</a:t>
            </a:r>
            <a:endParaRPr lang="en-US" sz="2000" b="0" u="none" strike="noStrike">
              <a:solidFill>
                <a:srgbClr val="FFFFFF"/>
              </a:solidFill>
              <a:effectLst/>
              <a:uFillTx/>
              <a:latin typeface="Arial"/>
            </a:endParaRPr>
          </a:p>
          <a:p>
            <a:pPr defTabSz="914400">
              <a:lnSpc>
                <a:spcPct val="100000"/>
              </a:lnSpc>
              <a:tabLst>
                <a:tab pos="0" algn="l"/>
              </a:tabLst>
            </a:pPr>
            <a:r>
              <a:rPr lang="en-US" sz="2000" b="1" u="none" strike="noStrike">
                <a:solidFill>
                  <a:srgbClr val="F8FAFF"/>
                </a:solidFill>
                <a:effectLst/>
                <a:uFillTx/>
                <a:latin typeface="Aptos"/>
                <a:ea typeface="Aptos"/>
              </a:rPr>
              <a:t>MSBuild server</a:t>
            </a:r>
            <a:endParaRPr lang="en-US" sz="2000" b="0" u="none" strike="noStrike">
              <a:solidFill>
                <a:srgbClr val="FFFFFF"/>
              </a:solidFill>
              <a:effectLst/>
              <a:uFillTx/>
              <a:latin typeface="Arial"/>
            </a:endParaRPr>
          </a:p>
        </p:txBody>
      </p:sp>
      <p:sp>
        <p:nvSpPr>
          <p:cNvPr id="55" name="PlaceHolder 1"/>
          <p:cNvSpPr>
            <a:spLocks noGrp="1"/>
          </p:cNvSpPr>
          <p:nvPr>
            <p:ph type="sldNum" idx="6"/>
          </p:nvPr>
        </p:nvSpPr>
        <p:spPr>
          <a:xfrm>
            <a:off x="11521440" y="651060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800" b="0" u="none" strike="noStrike">
                <a:solidFill>
                  <a:srgbClr val="71809A"/>
                </a:solidFill>
                <a:effectLst/>
                <a:uFillTx/>
                <a:latin typeface="Aptos"/>
                <a:ea typeface="Aptos"/>
              </a:defRPr>
            </a:lvl1pPr>
          </a:lstStyle>
          <a:p>
            <a:pPr indent="0" algn="l" defTabSz="914400">
              <a:lnSpc>
                <a:spcPct val="100000"/>
              </a:lnSpc>
              <a:buNone/>
            </a:pPr>
            <a:fld id="{594BAC10-4CC5-44C8-BD5D-40C8E7921E4A}" type="slidenum">
              <a:rPr lang="en-US" sz="800" b="0" u="none" strike="noStrike">
                <a:solidFill>
                  <a:srgbClr val="71809A"/>
                </a:solidFill>
                <a:effectLst/>
                <a:uFillTx/>
                <a:latin typeface="Aptos"/>
                <a:ea typeface="Aptos"/>
              </a:rPr>
              <a:t>4</a:t>
            </a:fld>
            <a:endParaRPr lang="en-US" sz="8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Shape 0"/>
          <p:cNvSpPr/>
          <p:nvPr/>
        </p:nvSpPr>
        <p:spPr>
          <a:xfrm>
            <a:off x="502920" y="311040"/>
            <a:ext cx="1599840" cy="301320"/>
          </a:xfrm>
          <a:prstGeom prst="roundRect">
            <a:avLst>
              <a:gd name="adj" fmla="val 48485"/>
            </a:avLst>
          </a:prstGeom>
          <a:solidFill>
            <a:srgbClr val="9175FF"/>
          </a:solidFill>
          <a:ln w="12700">
            <a:solidFill>
              <a:srgbClr val="9175FF">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57" name="Text 1"/>
          <p:cNvSpPr/>
          <p:nvPr/>
        </p:nvSpPr>
        <p:spPr>
          <a:xfrm>
            <a:off x="603360" y="356760"/>
            <a:ext cx="1389600" cy="13680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900" b="1" u="none" strike="noStrike">
                <a:solidFill>
                  <a:srgbClr val="F8FAFF"/>
                </a:solidFill>
                <a:effectLst/>
                <a:uFillTx/>
                <a:latin typeface="Aptos"/>
                <a:ea typeface="Aptos"/>
              </a:rPr>
              <a:t>01  RELEASE</a:t>
            </a:r>
            <a:endParaRPr lang="en-US" sz="900" b="0" u="none" strike="noStrike">
              <a:solidFill>
                <a:srgbClr val="FFFFFF"/>
              </a:solidFill>
              <a:effectLst/>
              <a:uFillTx/>
              <a:latin typeface="Arial"/>
            </a:endParaRPr>
          </a:p>
        </p:txBody>
      </p:sp>
      <p:sp>
        <p:nvSpPr>
          <p:cNvPr id="58" name="Text 2"/>
          <p:cNvSpPr/>
          <p:nvPr/>
        </p:nvSpPr>
        <p:spPr>
          <a:xfrm>
            <a:off x="502920" y="768240"/>
            <a:ext cx="10972440" cy="502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900" b="1" u="none" strike="noStrike">
                <a:solidFill>
                  <a:srgbClr val="F8FAFF"/>
                </a:solidFill>
                <a:effectLst/>
                <a:uFillTx/>
                <a:latin typeface="Aptos"/>
                <a:ea typeface="Aptos"/>
              </a:rPr>
              <a:t>Six additions worth remembering</a:t>
            </a:r>
            <a:endParaRPr lang="en-US" sz="2900" b="0" u="none" strike="noStrike">
              <a:solidFill>
                <a:srgbClr val="FFFFFF"/>
              </a:solidFill>
              <a:effectLst/>
              <a:uFillTx/>
              <a:latin typeface="Arial"/>
            </a:endParaRPr>
          </a:p>
        </p:txBody>
      </p:sp>
      <p:sp>
        <p:nvSpPr>
          <p:cNvPr id="59" name="Shape 3"/>
          <p:cNvSpPr/>
          <p:nvPr/>
        </p:nvSpPr>
        <p:spPr>
          <a:xfrm>
            <a:off x="658440" y="1444680"/>
            <a:ext cx="3364560" cy="1663920"/>
          </a:xfrm>
          <a:prstGeom prst="roundRect">
            <a:avLst>
              <a:gd name="adj" fmla="val 9890"/>
            </a:avLst>
          </a:prstGeom>
          <a:solidFill>
            <a:srgbClr val="111D34"/>
          </a:solidFill>
          <a:ln w="12700">
            <a:solidFill>
              <a:srgbClr val="111D34">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0" name="Text 4"/>
          <p:cNvSpPr/>
          <p:nvPr/>
        </p:nvSpPr>
        <p:spPr>
          <a:xfrm>
            <a:off x="841320" y="1609200"/>
            <a:ext cx="1005480" cy="65808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2400" b="1" u="none" strike="noStrike">
                <a:solidFill>
                  <a:srgbClr val="42DBFF"/>
                </a:solidFill>
                <a:effectLst/>
                <a:uFillTx/>
                <a:latin typeface="DejaVu Sans Mono"/>
                <a:ea typeface="DejaVu Sans Mono"/>
              </a:rPr>
              <a:t>{…}</a:t>
            </a:r>
            <a:endParaRPr lang="en-US" sz="2400" b="0" u="none" strike="noStrike">
              <a:solidFill>
                <a:srgbClr val="FFFFFF"/>
              </a:solidFill>
              <a:effectLst/>
              <a:uFillTx/>
              <a:latin typeface="Arial"/>
            </a:endParaRPr>
          </a:p>
          <a:p>
            <a:pPr algn="ctr" defTabSz="914400">
              <a:lnSpc>
                <a:spcPct val="100000"/>
              </a:lnSpc>
              <a:tabLst>
                <a:tab pos="0" algn="l"/>
              </a:tabLst>
            </a:pPr>
            <a:r>
              <a:rPr lang="en-US" sz="2400" b="1" u="none" strike="noStrike">
                <a:solidFill>
                  <a:srgbClr val="42DBFF"/>
                </a:solidFill>
                <a:effectLst/>
                <a:uFillTx/>
                <a:latin typeface="DejaVu Sans Mono"/>
                <a:ea typeface="DejaVu Sans Mono"/>
              </a:rPr>
              <a:t>{…}</a:t>
            </a:r>
            <a:endParaRPr lang="en-US" sz="2400" b="0" u="none" strike="noStrike">
              <a:solidFill>
                <a:srgbClr val="FFFFFF"/>
              </a:solidFill>
              <a:effectLst/>
              <a:uFillTx/>
              <a:latin typeface="Arial"/>
            </a:endParaRPr>
          </a:p>
        </p:txBody>
      </p:sp>
      <p:sp>
        <p:nvSpPr>
          <p:cNvPr id="61" name="Text 5"/>
          <p:cNvSpPr/>
          <p:nvPr/>
        </p:nvSpPr>
        <p:spPr>
          <a:xfrm>
            <a:off x="1938600" y="1764720"/>
            <a:ext cx="1782720" cy="712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600" b="1" u="none" strike="noStrike">
                <a:solidFill>
                  <a:srgbClr val="F8FAFF"/>
                </a:solidFill>
                <a:effectLst/>
                <a:uFillTx/>
                <a:latin typeface="Aptos"/>
                <a:ea typeface="Aptos"/>
              </a:rPr>
              <a:t>JSON Lines</a:t>
            </a:r>
            <a:endParaRPr lang="en-US" sz="1600" b="0" u="none" strike="noStrike">
              <a:solidFill>
                <a:srgbClr val="FFFFFF"/>
              </a:solidFill>
              <a:effectLst/>
              <a:uFillTx/>
              <a:latin typeface="Arial"/>
            </a:endParaRPr>
          </a:p>
        </p:txBody>
      </p:sp>
      <p:sp>
        <p:nvSpPr>
          <p:cNvPr id="62" name="Shape 6"/>
          <p:cNvSpPr/>
          <p:nvPr/>
        </p:nvSpPr>
        <p:spPr>
          <a:xfrm>
            <a:off x="4480560" y="1444680"/>
            <a:ext cx="3364560" cy="1663920"/>
          </a:xfrm>
          <a:prstGeom prst="roundRect">
            <a:avLst>
              <a:gd name="adj" fmla="val 9890"/>
            </a:avLst>
          </a:prstGeom>
          <a:solidFill>
            <a:srgbClr val="111D34"/>
          </a:solidFill>
          <a:ln w="12700">
            <a:solidFill>
              <a:srgbClr val="111D34">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3" name="Text 7"/>
          <p:cNvSpPr/>
          <p:nvPr/>
        </p:nvSpPr>
        <p:spPr>
          <a:xfrm>
            <a:off x="4663440" y="1609200"/>
            <a:ext cx="1005480" cy="658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2400" b="1" u="none" strike="noStrike">
                <a:solidFill>
                  <a:srgbClr val="9175FF"/>
                </a:solidFill>
                <a:effectLst/>
                <a:uFillTx/>
                <a:latin typeface="DejaVu Sans Mono"/>
                <a:ea typeface="DejaVu Sans Mono"/>
              </a:rPr>
              <a:t>A ∪ B</a:t>
            </a:r>
            <a:endParaRPr lang="en-US" sz="2400" b="0" u="none" strike="noStrike">
              <a:solidFill>
                <a:srgbClr val="FFFFFF"/>
              </a:solidFill>
              <a:effectLst/>
              <a:uFillTx/>
              <a:latin typeface="Arial"/>
            </a:endParaRPr>
          </a:p>
        </p:txBody>
      </p:sp>
      <p:sp>
        <p:nvSpPr>
          <p:cNvPr id="64" name="Text 8"/>
          <p:cNvSpPr/>
          <p:nvPr/>
        </p:nvSpPr>
        <p:spPr>
          <a:xfrm>
            <a:off x="5760720" y="1764720"/>
            <a:ext cx="1782720" cy="712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600" b="1" u="none" strike="noStrike">
                <a:solidFill>
                  <a:srgbClr val="F8FAFF"/>
                </a:solidFill>
                <a:effectLst/>
                <a:uFillTx/>
                <a:latin typeface="Aptos"/>
                <a:ea typeface="Aptos"/>
              </a:rPr>
              <a:t>Full outer joins</a:t>
            </a:r>
            <a:endParaRPr lang="en-US" sz="1600" b="0" u="none" strike="noStrike">
              <a:solidFill>
                <a:srgbClr val="FFFFFF"/>
              </a:solidFill>
              <a:effectLst/>
              <a:uFillTx/>
              <a:latin typeface="Arial"/>
            </a:endParaRPr>
          </a:p>
        </p:txBody>
      </p:sp>
      <p:sp>
        <p:nvSpPr>
          <p:cNvPr id="65" name="Shape 9"/>
          <p:cNvSpPr/>
          <p:nvPr/>
        </p:nvSpPr>
        <p:spPr>
          <a:xfrm>
            <a:off x="8302680" y="1444680"/>
            <a:ext cx="3364560" cy="1663920"/>
          </a:xfrm>
          <a:prstGeom prst="roundRect">
            <a:avLst>
              <a:gd name="adj" fmla="val 9890"/>
            </a:avLst>
          </a:prstGeom>
          <a:solidFill>
            <a:srgbClr val="111D34"/>
          </a:solidFill>
          <a:ln w="12700">
            <a:solidFill>
              <a:srgbClr val="111D34">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6" name="Text 10"/>
          <p:cNvSpPr/>
          <p:nvPr/>
        </p:nvSpPr>
        <p:spPr>
          <a:xfrm>
            <a:off x="8485560" y="1609200"/>
            <a:ext cx="1005480" cy="658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2400" b="1" u="none" strike="noStrike">
                <a:solidFill>
                  <a:srgbClr val="60E5A1"/>
                </a:solidFill>
                <a:effectLst/>
                <a:uFillTx/>
                <a:latin typeface="DejaVu Sans Mono"/>
                <a:ea typeface="DejaVu Sans Mono"/>
              </a:rPr>
              <a:t>HTTP</a:t>
            </a:r>
            <a:endParaRPr lang="en-US" sz="2400" b="0" u="none" strike="noStrike">
              <a:solidFill>
                <a:srgbClr val="FFFFFF"/>
              </a:solidFill>
              <a:effectLst/>
              <a:uFillTx/>
              <a:latin typeface="Arial"/>
            </a:endParaRPr>
          </a:p>
        </p:txBody>
      </p:sp>
      <p:sp>
        <p:nvSpPr>
          <p:cNvPr id="67" name="Text 11"/>
          <p:cNvSpPr/>
          <p:nvPr/>
        </p:nvSpPr>
        <p:spPr>
          <a:xfrm>
            <a:off x="9582840" y="1764720"/>
            <a:ext cx="1782720" cy="712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600" b="1" u="none" strike="noStrike">
                <a:solidFill>
                  <a:srgbClr val="F8FAFF"/>
                </a:solidFill>
                <a:effectLst/>
                <a:uFillTx/>
                <a:latin typeface="Aptos"/>
                <a:ea typeface="Aptos"/>
              </a:rPr>
              <a:t>Request compression</a:t>
            </a:r>
            <a:endParaRPr lang="en-US" sz="1600" b="0" u="none" strike="noStrike">
              <a:solidFill>
                <a:srgbClr val="FFFFFF"/>
              </a:solidFill>
              <a:effectLst/>
              <a:uFillTx/>
              <a:latin typeface="Arial"/>
            </a:endParaRPr>
          </a:p>
        </p:txBody>
      </p:sp>
      <p:sp>
        <p:nvSpPr>
          <p:cNvPr id="68" name="Shape 12"/>
          <p:cNvSpPr/>
          <p:nvPr/>
        </p:nvSpPr>
        <p:spPr>
          <a:xfrm>
            <a:off x="658440" y="3502080"/>
            <a:ext cx="3364560" cy="1663920"/>
          </a:xfrm>
          <a:prstGeom prst="roundRect">
            <a:avLst>
              <a:gd name="adj" fmla="val 9890"/>
            </a:avLst>
          </a:prstGeom>
          <a:solidFill>
            <a:srgbClr val="111D34"/>
          </a:solidFill>
          <a:ln w="12700">
            <a:solidFill>
              <a:srgbClr val="111D34">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69" name="Text 13"/>
          <p:cNvSpPr/>
          <p:nvPr/>
        </p:nvSpPr>
        <p:spPr>
          <a:xfrm>
            <a:off x="841320" y="3666600"/>
            <a:ext cx="1005480" cy="658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2400" b="1" u="none" strike="noStrike">
                <a:solidFill>
                  <a:srgbClr val="42DBFF"/>
                </a:solidFill>
                <a:effectLst/>
                <a:uFillTx/>
                <a:latin typeface="DejaVu Sans Mono"/>
                <a:ea typeface="DejaVu Sans Mono"/>
              </a:rPr>
              <a:t>DNS</a:t>
            </a:r>
            <a:endParaRPr lang="en-US" sz="2400" b="0" u="none" strike="noStrike">
              <a:solidFill>
                <a:srgbClr val="FFFFFF"/>
              </a:solidFill>
              <a:effectLst/>
              <a:uFillTx/>
              <a:latin typeface="Arial"/>
            </a:endParaRPr>
          </a:p>
        </p:txBody>
      </p:sp>
      <p:sp>
        <p:nvSpPr>
          <p:cNvPr id="70" name="Text 14"/>
          <p:cNvSpPr/>
          <p:nvPr/>
        </p:nvSpPr>
        <p:spPr>
          <a:xfrm>
            <a:off x="1938600" y="3822120"/>
            <a:ext cx="1782720" cy="712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600" b="1" u="none" strike="noStrike">
                <a:solidFill>
                  <a:srgbClr val="F8FAFF"/>
                </a:solidFill>
                <a:effectLst/>
                <a:uFillTx/>
                <a:latin typeface="Aptos"/>
                <a:ea typeface="Aptos"/>
              </a:rPr>
              <a:t>Record APIs</a:t>
            </a:r>
            <a:endParaRPr lang="en-US" sz="1600" b="0" u="none" strike="noStrike">
              <a:solidFill>
                <a:srgbClr val="FFFFFF"/>
              </a:solidFill>
              <a:effectLst/>
              <a:uFillTx/>
              <a:latin typeface="Arial"/>
            </a:endParaRPr>
          </a:p>
        </p:txBody>
      </p:sp>
      <p:sp>
        <p:nvSpPr>
          <p:cNvPr id="71" name="Shape 15"/>
          <p:cNvSpPr/>
          <p:nvPr/>
        </p:nvSpPr>
        <p:spPr>
          <a:xfrm>
            <a:off x="4480560" y="3502080"/>
            <a:ext cx="3364560" cy="1663920"/>
          </a:xfrm>
          <a:prstGeom prst="roundRect">
            <a:avLst>
              <a:gd name="adj" fmla="val 9890"/>
            </a:avLst>
          </a:prstGeom>
          <a:solidFill>
            <a:srgbClr val="111D34"/>
          </a:solidFill>
          <a:ln w="12700">
            <a:solidFill>
              <a:srgbClr val="111D34">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2" name="Text 16"/>
          <p:cNvSpPr/>
          <p:nvPr/>
        </p:nvSpPr>
        <p:spPr>
          <a:xfrm>
            <a:off x="4663440" y="3666600"/>
            <a:ext cx="1005480" cy="658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2400" b="1" u="none" strike="noStrike">
                <a:solidFill>
                  <a:srgbClr val="FFB55F"/>
                </a:solidFill>
                <a:effectLst/>
                <a:uFillTx/>
                <a:latin typeface="DejaVu Sans Mono"/>
                <a:ea typeface="DejaVu Sans Mono"/>
              </a:rPr>
              <a:t>0.1</a:t>
            </a:r>
            <a:endParaRPr lang="en-US" sz="2400" b="0" u="none" strike="noStrike">
              <a:solidFill>
                <a:srgbClr val="FFFFFF"/>
              </a:solidFill>
              <a:effectLst/>
              <a:uFillTx/>
              <a:latin typeface="Arial"/>
            </a:endParaRPr>
          </a:p>
        </p:txBody>
      </p:sp>
      <p:sp>
        <p:nvSpPr>
          <p:cNvPr id="73" name="Text 17"/>
          <p:cNvSpPr/>
          <p:nvPr/>
        </p:nvSpPr>
        <p:spPr>
          <a:xfrm>
            <a:off x="5760720" y="3822120"/>
            <a:ext cx="1782720" cy="712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600" b="1" u="none" strike="noStrike">
                <a:solidFill>
                  <a:srgbClr val="F8FAFF"/>
                </a:solidFill>
                <a:effectLst/>
                <a:uFillTx/>
                <a:latin typeface="Aptos"/>
                <a:ea typeface="Aptos"/>
              </a:rPr>
              <a:t>Decimal floating point</a:t>
            </a:r>
            <a:endParaRPr lang="en-US" sz="1600" b="0" u="none" strike="noStrike">
              <a:solidFill>
                <a:srgbClr val="FFFFFF"/>
              </a:solidFill>
              <a:effectLst/>
              <a:uFillTx/>
              <a:latin typeface="Arial"/>
            </a:endParaRPr>
          </a:p>
        </p:txBody>
      </p:sp>
      <p:sp>
        <p:nvSpPr>
          <p:cNvPr id="74" name="Shape 18"/>
          <p:cNvSpPr/>
          <p:nvPr/>
        </p:nvSpPr>
        <p:spPr>
          <a:xfrm>
            <a:off x="8302680" y="3502080"/>
            <a:ext cx="3364560" cy="1663920"/>
          </a:xfrm>
          <a:prstGeom prst="roundRect">
            <a:avLst>
              <a:gd name="adj" fmla="val 9890"/>
            </a:avLst>
          </a:prstGeom>
          <a:solidFill>
            <a:srgbClr val="111D34"/>
          </a:solidFill>
          <a:ln w="12700">
            <a:solidFill>
              <a:srgbClr val="111D34">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75" name="Text 19"/>
          <p:cNvSpPr/>
          <p:nvPr/>
        </p:nvSpPr>
        <p:spPr>
          <a:xfrm>
            <a:off x="8485560" y="3666600"/>
            <a:ext cx="1005480" cy="6580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2400" b="1" u="none" strike="noStrike">
                <a:solidFill>
                  <a:srgbClr val="FF718E"/>
                </a:solidFill>
                <a:effectLst/>
                <a:uFillTx/>
                <a:latin typeface="DejaVu Sans Mono"/>
                <a:ea typeface="DejaVu Sans Mono"/>
              </a:rPr>
              <a:t>ZIP</a:t>
            </a:r>
            <a:endParaRPr lang="en-US" sz="2400" b="0" u="none" strike="noStrike">
              <a:solidFill>
                <a:srgbClr val="FFFFFF"/>
              </a:solidFill>
              <a:effectLst/>
              <a:uFillTx/>
              <a:latin typeface="Arial"/>
            </a:endParaRPr>
          </a:p>
        </p:txBody>
      </p:sp>
      <p:sp>
        <p:nvSpPr>
          <p:cNvPr id="76" name="Text 20"/>
          <p:cNvSpPr/>
          <p:nvPr/>
        </p:nvSpPr>
        <p:spPr>
          <a:xfrm>
            <a:off x="9582840" y="3822120"/>
            <a:ext cx="1782720" cy="7128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600" b="1" u="none" strike="noStrike">
                <a:solidFill>
                  <a:srgbClr val="F8FAFF"/>
                </a:solidFill>
                <a:effectLst/>
                <a:uFillTx/>
                <a:latin typeface="Aptos"/>
                <a:ea typeface="Aptos"/>
              </a:rPr>
              <a:t>Password support</a:t>
            </a:r>
            <a:endParaRPr lang="en-US" sz="1600" b="0" u="none" strike="noStrike">
              <a:solidFill>
                <a:srgbClr val="FFFFFF"/>
              </a:solidFill>
              <a:effectLst/>
              <a:uFillTx/>
              <a:latin typeface="Arial"/>
            </a:endParaRPr>
          </a:p>
        </p:txBody>
      </p:sp>
      <p:sp>
        <p:nvSpPr>
          <p:cNvPr id="77" name="PlaceHolder 1"/>
          <p:cNvSpPr>
            <a:spLocks noGrp="1"/>
          </p:cNvSpPr>
          <p:nvPr>
            <p:ph type="sldNum" idx="7"/>
          </p:nvPr>
        </p:nvSpPr>
        <p:spPr>
          <a:xfrm>
            <a:off x="11521440" y="651060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800" b="0" u="none" strike="noStrike">
                <a:solidFill>
                  <a:srgbClr val="71809A"/>
                </a:solidFill>
                <a:effectLst/>
                <a:uFillTx/>
                <a:latin typeface="Aptos"/>
                <a:ea typeface="Aptos"/>
              </a:defRPr>
            </a:lvl1pPr>
          </a:lstStyle>
          <a:p>
            <a:pPr indent="0" algn="l" defTabSz="914400">
              <a:lnSpc>
                <a:spcPct val="100000"/>
              </a:lnSpc>
              <a:buNone/>
            </a:pPr>
            <a:fld id="{8B8720D6-E6CA-49B4-B0C7-277968B39743}" type="slidenum">
              <a:rPr lang="en-US" sz="800" b="0" u="none" strike="noStrike">
                <a:solidFill>
                  <a:srgbClr val="71809A"/>
                </a:solidFill>
                <a:effectLst/>
                <a:uFillTx/>
                <a:latin typeface="Aptos"/>
                <a:ea typeface="Aptos"/>
              </a:rPr>
              <a:t>5</a:t>
            </a:fld>
            <a:endParaRPr lang="en-US" sz="8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0D1A"/>
        </a:solidFill>
      </p:bgPr>
    </p:bg>
    <p:spTree>
      <p:nvGrpSpPr>
        <p:cNvPr id="1" name=""/>
        <p:cNvGrpSpPr/>
        <p:nvPr/>
      </p:nvGrpSpPr>
      <p:grpSpPr>
        <a:xfrm>
          <a:off x="0" y="0"/>
          <a:ext cx="0" cy="0"/>
          <a:chOff x="0" y="0"/>
          <a:chExt cx="0" cy="0"/>
        </a:xfrm>
      </p:grpSpPr>
      <p:pic>
        <p:nvPicPr>
          <p:cNvPr id="78" name="Image 0" descr="generated_images/exec-4da97aa8-036b-438d-9853-01d2a865a3ac.png"/>
          <p:cNvPicPr/>
          <p:nvPr/>
        </p:nvPicPr>
        <p:blipFill>
          <a:blip r:embed="rId1"/>
          <a:stretch/>
        </p:blipFill>
        <p:spPr>
          <a:xfrm>
            <a:off x="0" y="0"/>
            <a:ext cx="12191400" cy="6857640"/>
          </a:xfrm>
          <a:prstGeom prst="rect">
            <a:avLst/>
          </a:prstGeom>
          <a:noFill/>
          <a:ln w="0">
            <a:noFill/>
          </a:ln>
        </p:spPr>
      </p:pic>
      <p:sp>
        <p:nvSpPr>
          <p:cNvPr id="79" name="Shape 0"/>
          <p:cNvSpPr/>
          <p:nvPr/>
        </p:nvSpPr>
        <p:spPr>
          <a:xfrm>
            <a:off x="0" y="0"/>
            <a:ext cx="5714640" cy="6857640"/>
          </a:xfrm>
          <a:prstGeom prst="rect">
            <a:avLst/>
          </a:prstGeom>
          <a:solidFill>
            <a:srgbClr val="070D1A">
              <a:alpha val="94000"/>
            </a:srgbClr>
          </a:solidFill>
          <a:ln w="12700">
            <a:solidFill>
              <a:srgbClr val="070D1A">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80" name="Text 1"/>
          <p:cNvSpPr/>
          <p:nvPr/>
        </p:nvSpPr>
        <p:spPr>
          <a:xfrm>
            <a:off x="658440" y="1417320"/>
            <a:ext cx="4708800" cy="13712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3800" b="1" u="none" strike="noStrike">
                <a:solidFill>
                  <a:srgbClr val="F8FAFF"/>
                </a:solidFill>
                <a:effectLst/>
                <a:uFillTx/>
                <a:latin typeface="Aptos"/>
                <a:ea typeface="Aptos"/>
              </a:rPr>
              <a:t>Make states</a:t>
            </a:r>
            <a:endParaRPr lang="en-US" sz="3800" b="0" u="none" strike="noStrike">
              <a:solidFill>
                <a:srgbClr val="FFFFFF"/>
              </a:solidFill>
              <a:effectLst/>
              <a:uFillTx/>
              <a:latin typeface="Arial"/>
            </a:endParaRPr>
          </a:p>
          <a:p>
            <a:pPr defTabSz="914400">
              <a:lnSpc>
                <a:spcPct val="100000"/>
              </a:lnSpc>
              <a:tabLst>
                <a:tab pos="0" algn="l"/>
              </a:tabLst>
            </a:pPr>
            <a:r>
              <a:rPr lang="en-US" sz="3800" b="1" u="none" strike="noStrike">
                <a:solidFill>
                  <a:srgbClr val="F8FAFF"/>
                </a:solidFill>
                <a:effectLst/>
                <a:uFillTx/>
                <a:latin typeface="Aptos"/>
                <a:ea typeface="Aptos"/>
              </a:rPr>
              <a:t>visible in code.</a:t>
            </a:r>
            <a:endParaRPr lang="en-US" sz="3800" b="0" u="none" strike="noStrike">
              <a:solidFill>
                <a:srgbClr val="FFFFFF"/>
              </a:solidFill>
              <a:effectLst/>
              <a:uFillTx/>
              <a:latin typeface="Arial"/>
            </a:endParaRPr>
          </a:p>
        </p:txBody>
      </p:sp>
      <p:sp>
        <p:nvSpPr>
          <p:cNvPr id="81" name="Text 2"/>
          <p:cNvSpPr/>
          <p:nvPr/>
        </p:nvSpPr>
        <p:spPr>
          <a:xfrm>
            <a:off x="658440" y="3154680"/>
            <a:ext cx="4343040" cy="8683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800" b="0" u="none" strike="noStrike">
                <a:solidFill>
                  <a:srgbClr val="AEB9CC"/>
                </a:solidFill>
                <a:effectLst/>
                <a:uFillTx/>
                <a:latin typeface="Aptos"/>
                <a:ea typeface="Aptos"/>
              </a:rPr>
              <a:t>C# 15 and application frameworks</a:t>
            </a:r>
            <a:endParaRPr lang="en-US" sz="1800" b="0" u="none" strike="noStrike">
              <a:solidFill>
                <a:srgbClr val="FFFFFF"/>
              </a:solidFill>
              <a:effectLst/>
              <a:uFillTx/>
              <a:latin typeface="Arial"/>
            </a:endParaRPr>
          </a:p>
        </p:txBody>
      </p:sp>
      <p:sp>
        <p:nvSpPr>
          <p:cNvPr id="82" name="Shape 3"/>
          <p:cNvSpPr/>
          <p:nvPr/>
        </p:nvSpPr>
        <p:spPr>
          <a:xfrm>
            <a:off x="658080" y="1097280"/>
            <a:ext cx="777240" cy="360"/>
          </a:xfrm>
          <a:prstGeom prst="line">
            <a:avLst/>
          </a:prstGeom>
          <a:ln w="63500">
            <a:solidFill>
              <a:srgbClr val="9175FF"/>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0D1A"/>
        </a:solidFill>
      </p:bgPr>
    </p:bg>
    <p:spTree>
      <p:nvGrpSpPr>
        <p:cNvPr id="1" name=""/>
        <p:cNvGrpSpPr/>
        <p:nvPr/>
      </p:nvGrpSpPr>
      <p:grpSpPr>
        <a:xfrm>
          <a:off x="0" y="0"/>
          <a:ext cx="0" cy="0"/>
          <a:chOff x="0" y="0"/>
          <a:chExt cx="0" cy="0"/>
        </a:xfrm>
      </p:grpSpPr>
      <p:pic>
        <p:nvPicPr>
          <p:cNvPr id="83" name="Image 0" descr="generated_images/exec-4da97aa8-036b-438d-9853-01d2a865a3ac.png"/>
          <p:cNvPicPr/>
          <p:nvPr/>
        </p:nvPicPr>
        <p:blipFill>
          <a:blip r:embed="rId1"/>
          <a:stretch/>
        </p:blipFill>
        <p:spPr>
          <a:xfrm>
            <a:off x="0" y="0"/>
            <a:ext cx="12191400" cy="6857640"/>
          </a:xfrm>
          <a:prstGeom prst="rect">
            <a:avLst/>
          </a:prstGeom>
          <a:noFill/>
          <a:ln w="0">
            <a:noFill/>
          </a:ln>
        </p:spPr>
      </p:pic>
      <p:sp>
        <p:nvSpPr>
          <p:cNvPr id="84" name="Shape 0"/>
          <p:cNvSpPr/>
          <p:nvPr/>
        </p:nvSpPr>
        <p:spPr>
          <a:xfrm>
            <a:off x="0" y="0"/>
            <a:ext cx="4663080" cy="6857640"/>
          </a:xfrm>
          <a:prstGeom prst="rect">
            <a:avLst/>
          </a:prstGeom>
          <a:solidFill>
            <a:srgbClr val="070D1A">
              <a:alpha val="90000"/>
            </a:srgbClr>
          </a:solidFill>
          <a:ln w="12700">
            <a:solidFill>
              <a:srgbClr val="070D1A">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85" name="Text 1"/>
          <p:cNvSpPr/>
          <p:nvPr/>
        </p:nvSpPr>
        <p:spPr>
          <a:xfrm>
            <a:off x="594360" y="822960"/>
            <a:ext cx="4114440" cy="1234080"/>
          </a:xfrm>
          <a:prstGeom prst="rect">
            <a:avLst/>
          </a:prstGeom>
          <a:noFill/>
          <a:ln w="0">
            <a:noFill/>
          </a:ln>
        </p:spPr>
        <p:style>
          <a:lnRef idx="0"/>
          <a:fillRef idx="0"/>
          <a:effectRef idx="0"/>
          <a:fontRef idx="minor"/>
        </p:style>
        <p:txBody>
          <a:bodyPr lIns="0" tIns="0" rIns="0" bIns="0" anchor="t">
            <a:normAutofit fontScale="85000" lnSpcReduction="9999"/>
          </a:bodyPr>
          <a:p>
            <a:pPr defTabSz="914400">
              <a:lnSpc>
                <a:spcPct val="100000"/>
              </a:lnSpc>
              <a:tabLst>
                <a:tab pos="0" algn="l"/>
              </a:tabLst>
            </a:pPr>
            <a:r>
              <a:rPr lang="en-US" sz="3500" b="1" u="none" strike="noStrike">
                <a:solidFill>
                  <a:srgbClr val="F8FAFF"/>
                </a:solidFill>
                <a:effectLst/>
                <a:uFillTx/>
                <a:latin typeface="Aptos"/>
                <a:ea typeface="Aptos"/>
              </a:rPr>
              <a:t>One result.</a:t>
            </a:r>
            <a:endParaRPr lang="en-US" sz="3500" b="0" u="none" strike="noStrike">
              <a:solidFill>
                <a:srgbClr val="FFFFFF"/>
              </a:solidFill>
              <a:effectLst/>
              <a:uFillTx/>
              <a:latin typeface="Arial"/>
            </a:endParaRPr>
          </a:p>
          <a:p>
            <a:pPr defTabSz="914400">
              <a:lnSpc>
                <a:spcPct val="100000"/>
              </a:lnSpc>
              <a:tabLst>
                <a:tab pos="0" algn="l"/>
              </a:tabLst>
            </a:pPr>
            <a:r>
              <a:rPr lang="en-US" sz="3500" b="1" u="none" strike="noStrike">
                <a:solidFill>
                  <a:srgbClr val="F8FAFF"/>
                </a:solidFill>
                <a:effectLst/>
                <a:uFillTx/>
                <a:latin typeface="Aptos"/>
                <a:ea typeface="Aptos"/>
              </a:rPr>
              <a:t>Three possible states.</a:t>
            </a:r>
            <a:endParaRPr lang="en-US" sz="3500" b="0" u="none" strike="noStrike">
              <a:solidFill>
                <a:srgbClr val="FFFFFF"/>
              </a:solidFill>
              <a:effectLst/>
              <a:uFillTx/>
              <a:latin typeface="Arial"/>
            </a:endParaRPr>
          </a:p>
        </p:txBody>
      </p:sp>
      <p:sp>
        <p:nvSpPr>
          <p:cNvPr id="86" name="Text 2"/>
          <p:cNvSpPr/>
          <p:nvPr/>
        </p:nvSpPr>
        <p:spPr>
          <a:xfrm>
            <a:off x="685800" y="2788920"/>
            <a:ext cx="1462680" cy="3654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800" b="1" u="none" strike="noStrike">
                <a:solidFill>
                  <a:srgbClr val="60E5A1"/>
                </a:solidFill>
                <a:effectLst/>
                <a:uFillTx/>
                <a:latin typeface="Aptos"/>
                <a:ea typeface="Aptos"/>
              </a:rPr>
              <a:t>Success</a:t>
            </a:r>
            <a:endParaRPr lang="en-US" sz="1800" b="0" u="none" strike="noStrike">
              <a:solidFill>
                <a:srgbClr val="FFFFFF"/>
              </a:solidFill>
              <a:effectLst/>
              <a:uFillTx/>
              <a:latin typeface="Arial"/>
            </a:endParaRPr>
          </a:p>
        </p:txBody>
      </p:sp>
      <p:sp>
        <p:nvSpPr>
          <p:cNvPr id="87" name="Text 3"/>
          <p:cNvSpPr/>
          <p:nvPr/>
        </p:nvSpPr>
        <p:spPr>
          <a:xfrm>
            <a:off x="685800" y="3310200"/>
            <a:ext cx="1462680" cy="3654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800" b="1" u="none" strike="noStrike">
                <a:solidFill>
                  <a:srgbClr val="42DBFF"/>
                </a:solidFill>
                <a:effectLst/>
                <a:uFillTx/>
                <a:latin typeface="Aptos"/>
                <a:ea typeface="Aptos"/>
              </a:rPr>
              <a:t>Declined</a:t>
            </a:r>
            <a:endParaRPr lang="en-US" sz="1800" b="0" u="none" strike="noStrike">
              <a:solidFill>
                <a:srgbClr val="FFFFFF"/>
              </a:solidFill>
              <a:effectLst/>
              <a:uFillTx/>
              <a:latin typeface="Arial"/>
            </a:endParaRPr>
          </a:p>
        </p:txBody>
      </p:sp>
      <p:sp>
        <p:nvSpPr>
          <p:cNvPr id="88" name="Text 4"/>
          <p:cNvSpPr/>
          <p:nvPr/>
        </p:nvSpPr>
        <p:spPr>
          <a:xfrm>
            <a:off x="685800" y="3831480"/>
            <a:ext cx="1462680" cy="36540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800" b="1" u="none" strike="noStrike">
                <a:solidFill>
                  <a:srgbClr val="FF718E"/>
                </a:solidFill>
                <a:effectLst/>
                <a:uFillTx/>
                <a:latin typeface="Aptos"/>
                <a:ea typeface="Aptos"/>
              </a:rPr>
              <a:t>Error</a:t>
            </a:r>
            <a:endParaRPr lang="en-US" sz="1800" b="0" u="none" strike="noStrike">
              <a:solidFill>
                <a:srgbClr val="FFFFFF"/>
              </a:solidFill>
              <a:effectLst/>
              <a:uFillTx/>
              <a:latin typeface="Arial"/>
            </a:endParaRPr>
          </a:p>
        </p:txBody>
      </p:sp>
      <p:sp>
        <p:nvSpPr>
          <p:cNvPr id="89" name="Text 5"/>
          <p:cNvSpPr/>
          <p:nvPr/>
        </p:nvSpPr>
        <p:spPr>
          <a:xfrm>
            <a:off x="640080" y="4892040"/>
            <a:ext cx="3748680" cy="6580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700" b="0" u="none" strike="noStrike">
                <a:solidFill>
                  <a:srgbClr val="AEB9CC"/>
                </a:solidFill>
                <a:effectLst/>
                <a:uFillTx/>
                <a:latin typeface="Aptos"/>
                <a:ea typeface="Aptos"/>
              </a:rPr>
              <a:t>The compiler can help you handle every case.</a:t>
            </a:r>
            <a:endParaRPr lang="en-U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0D1A"/>
        </a:solidFill>
      </p:bgPr>
    </p:bg>
    <p:spTree>
      <p:nvGrpSpPr>
        <p:cNvPr id="1" name=""/>
        <p:cNvGrpSpPr/>
        <p:nvPr/>
      </p:nvGrpSpPr>
      <p:grpSpPr>
        <a:xfrm>
          <a:off x="0" y="0"/>
          <a:ext cx="0" cy="0"/>
          <a:chOff x="0" y="0"/>
          <a:chExt cx="0" cy="0"/>
        </a:xfrm>
      </p:grpSpPr>
      <p:pic>
        <p:nvPicPr>
          <p:cNvPr id="90" name="Image 0" descr="generated_images/exec-f070889b-677e-4e2b-a37f-3b0aa677dc5f.png"/>
          <p:cNvPicPr/>
          <p:nvPr/>
        </p:nvPicPr>
        <p:blipFill>
          <a:blip r:embed="rId1"/>
          <a:stretch/>
        </p:blipFill>
        <p:spPr>
          <a:xfrm>
            <a:off x="0" y="0"/>
            <a:ext cx="12191400" cy="6857640"/>
          </a:xfrm>
          <a:prstGeom prst="rect">
            <a:avLst/>
          </a:prstGeom>
          <a:noFill/>
          <a:ln w="0">
            <a:noFill/>
          </a:ln>
        </p:spPr>
      </p:pic>
      <p:sp>
        <p:nvSpPr>
          <p:cNvPr id="91" name="Shape 0"/>
          <p:cNvSpPr/>
          <p:nvPr/>
        </p:nvSpPr>
        <p:spPr>
          <a:xfrm>
            <a:off x="0" y="0"/>
            <a:ext cx="4800240" cy="6857640"/>
          </a:xfrm>
          <a:prstGeom prst="rect">
            <a:avLst/>
          </a:prstGeom>
          <a:solidFill>
            <a:srgbClr val="070D1A">
              <a:alpha val="94000"/>
            </a:srgbClr>
          </a:solidFill>
          <a:ln w="12700">
            <a:solidFill>
              <a:srgbClr val="070D1A">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2" name="Text 1"/>
          <p:cNvSpPr/>
          <p:nvPr/>
        </p:nvSpPr>
        <p:spPr>
          <a:xfrm>
            <a:off x="621720" y="932760"/>
            <a:ext cx="4160160" cy="123408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3600" b="1" u="none" strike="noStrike">
                <a:solidFill>
                  <a:srgbClr val="F8FAFF"/>
                </a:solidFill>
                <a:effectLst/>
                <a:uFillTx/>
                <a:latin typeface="Aptos"/>
                <a:ea typeface="Aptos"/>
              </a:rPr>
              <a:t>The framework</a:t>
            </a:r>
            <a:endParaRPr lang="en-US" sz="3600" b="0" u="none" strike="noStrike">
              <a:solidFill>
                <a:srgbClr val="FFFFFF"/>
              </a:solidFill>
              <a:effectLst/>
              <a:uFillTx/>
              <a:latin typeface="Arial"/>
            </a:endParaRPr>
          </a:p>
          <a:p>
            <a:pPr defTabSz="914400">
              <a:lnSpc>
                <a:spcPct val="100000"/>
              </a:lnSpc>
              <a:tabLst>
                <a:tab pos="0" algn="l"/>
              </a:tabLst>
            </a:pPr>
            <a:r>
              <a:rPr lang="en-US" sz="3600" b="1" u="none" strike="noStrike">
                <a:solidFill>
                  <a:srgbClr val="F8FAFF"/>
                </a:solidFill>
                <a:effectLst/>
                <a:uFillTx/>
                <a:latin typeface="Aptos"/>
                <a:ea typeface="Aptos"/>
              </a:rPr>
              <a:t>adds guardrails.</a:t>
            </a:r>
            <a:endParaRPr lang="en-US" sz="3600" b="0" u="none" strike="noStrike">
              <a:solidFill>
                <a:srgbClr val="FFFFFF"/>
              </a:solidFill>
              <a:effectLst/>
              <a:uFillTx/>
              <a:latin typeface="Arial"/>
            </a:endParaRPr>
          </a:p>
        </p:txBody>
      </p:sp>
      <p:sp>
        <p:nvSpPr>
          <p:cNvPr id="93" name="Text 2"/>
          <p:cNvSpPr/>
          <p:nvPr/>
        </p:nvSpPr>
        <p:spPr>
          <a:xfrm>
            <a:off x="658440" y="2834640"/>
            <a:ext cx="2925720" cy="3106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800" b="1" u="none" strike="noStrike">
                <a:solidFill>
                  <a:srgbClr val="42DBFF"/>
                </a:solidFill>
                <a:effectLst/>
                <a:uFillTx/>
                <a:latin typeface="Aptos"/>
                <a:ea typeface="Aptos"/>
              </a:rPr>
              <a:t>Async validation</a:t>
            </a:r>
            <a:endParaRPr lang="en-US" sz="1800" b="0" u="none" strike="noStrike">
              <a:solidFill>
                <a:srgbClr val="FFFFFF"/>
              </a:solidFill>
              <a:effectLst/>
              <a:uFillTx/>
              <a:latin typeface="Arial"/>
            </a:endParaRPr>
          </a:p>
        </p:txBody>
      </p:sp>
      <p:sp>
        <p:nvSpPr>
          <p:cNvPr id="94" name="Text 3"/>
          <p:cNvSpPr/>
          <p:nvPr/>
        </p:nvSpPr>
        <p:spPr>
          <a:xfrm>
            <a:off x="658440" y="3355920"/>
            <a:ext cx="3565800" cy="3106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800" b="1" u="none" strike="noStrike">
                <a:solidFill>
                  <a:srgbClr val="60E5A1"/>
                </a:solidFill>
                <a:effectLst/>
                <a:uFillTx/>
                <a:latin typeface="Aptos"/>
                <a:ea typeface="Aptos"/>
              </a:rPr>
              <a:t>Automatic CSRF protection</a:t>
            </a:r>
            <a:endParaRPr lang="en-US" sz="1800" b="0" u="none" strike="noStrike">
              <a:solidFill>
                <a:srgbClr val="FFFFFF"/>
              </a:solidFill>
              <a:effectLst/>
              <a:uFillTx/>
              <a:latin typeface="Arial"/>
            </a:endParaRPr>
          </a:p>
        </p:txBody>
      </p:sp>
      <p:sp>
        <p:nvSpPr>
          <p:cNvPr id="95" name="Text 4"/>
          <p:cNvSpPr/>
          <p:nvPr/>
        </p:nvSpPr>
        <p:spPr>
          <a:xfrm>
            <a:off x="658440" y="3877200"/>
            <a:ext cx="2559960" cy="3106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800" b="1" u="none" strike="noStrike">
                <a:solidFill>
                  <a:srgbClr val="9175FF"/>
                </a:solidFill>
                <a:effectLst/>
                <a:uFillTx/>
                <a:latin typeface="Aptos"/>
                <a:ea typeface="Aptos"/>
              </a:rPr>
              <a:t>OpenAPI 3.2</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Shape 0"/>
          <p:cNvSpPr/>
          <p:nvPr/>
        </p:nvSpPr>
        <p:spPr>
          <a:xfrm>
            <a:off x="502920" y="311040"/>
            <a:ext cx="1599840" cy="301320"/>
          </a:xfrm>
          <a:prstGeom prst="roundRect">
            <a:avLst>
              <a:gd name="adj" fmla="val 48485"/>
            </a:avLst>
          </a:prstGeom>
          <a:solidFill>
            <a:srgbClr val="9175FF"/>
          </a:solidFill>
          <a:ln w="12700">
            <a:solidFill>
              <a:srgbClr val="9175FF">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97" name="Text 1"/>
          <p:cNvSpPr/>
          <p:nvPr/>
        </p:nvSpPr>
        <p:spPr>
          <a:xfrm>
            <a:off x="603360" y="356760"/>
            <a:ext cx="1389600" cy="13680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900" b="1" u="none" strike="noStrike">
                <a:solidFill>
                  <a:srgbClr val="F8FAFF"/>
                </a:solidFill>
                <a:effectLst/>
                <a:uFillTx/>
                <a:latin typeface="Aptos"/>
                <a:ea typeface="Aptos"/>
              </a:rPr>
              <a:t>02  APPS</a:t>
            </a:r>
            <a:endParaRPr lang="en-US" sz="900" b="0" u="none" strike="noStrike">
              <a:solidFill>
                <a:srgbClr val="FFFFFF"/>
              </a:solidFill>
              <a:effectLst/>
              <a:uFillTx/>
              <a:latin typeface="Arial"/>
            </a:endParaRPr>
          </a:p>
        </p:txBody>
      </p:sp>
      <p:sp>
        <p:nvSpPr>
          <p:cNvPr id="98" name="Text 2"/>
          <p:cNvSpPr/>
          <p:nvPr/>
        </p:nvSpPr>
        <p:spPr>
          <a:xfrm>
            <a:off x="502920" y="768240"/>
            <a:ext cx="10972440" cy="502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900" b="1" u="none" strike="noStrike">
                <a:solidFill>
                  <a:srgbClr val="F8FAFF"/>
                </a:solidFill>
                <a:effectLst/>
                <a:uFillTx/>
                <a:latin typeface="Aptos"/>
                <a:ea typeface="Aptos"/>
              </a:rPr>
              <a:t>Framework highlights</a:t>
            </a:r>
            <a:endParaRPr lang="en-US" sz="2900" b="0" u="none" strike="noStrike">
              <a:solidFill>
                <a:srgbClr val="FFFFFF"/>
              </a:solidFill>
              <a:effectLst/>
              <a:uFillTx/>
              <a:latin typeface="Arial"/>
            </a:endParaRPr>
          </a:p>
        </p:txBody>
      </p:sp>
      <p:sp>
        <p:nvSpPr>
          <p:cNvPr id="99" name="Text 3"/>
          <p:cNvSpPr/>
          <p:nvPr/>
        </p:nvSpPr>
        <p:spPr>
          <a:xfrm>
            <a:off x="713160" y="1572840"/>
            <a:ext cx="2377080" cy="45684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3100" b="1" u="none" strike="noStrike">
                <a:solidFill>
                  <a:srgbClr val="60E5A1"/>
                </a:solidFill>
                <a:effectLst/>
                <a:uFillTx/>
                <a:latin typeface="Aptos"/>
                <a:ea typeface="Aptos"/>
              </a:rPr>
              <a:t>EF Core</a:t>
            </a:r>
            <a:endParaRPr lang="en-US" sz="3100" b="0" u="none" strike="noStrike">
              <a:solidFill>
                <a:srgbClr val="FFFFFF"/>
              </a:solidFill>
              <a:effectLst/>
              <a:uFillTx/>
              <a:latin typeface="Arial"/>
            </a:endParaRPr>
          </a:p>
        </p:txBody>
      </p:sp>
      <p:sp>
        <p:nvSpPr>
          <p:cNvPr id="100" name="Text 4"/>
          <p:cNvSpPr/>
          <p:nvPr/>
        </p:nvSpPr>
        <p:spPr>
          <a:xfrm>
            <a:off x="713160" y="2240280"/>
            <a:ext cx="4297320" cy="15998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2300" b="1" u="none" strike="noStrike">
                <a:solidFill>
                  <a:srgbClr val="F8FAFF"/>
                </a:solidFill>
                <a:effectLst/>
                <a:uFillTx/>
                <a:latin typeface="Aptos"/>
                <a:ea typeface="Aptos"/>
              </a:rPr>
              <a:t>Cleaner SQL</a:t>
            </a:r>
            <a:endParaRPr lang="en-US" sz="2300" b="0" u="none" strike="noStrike">
              <a:solidFill>
                <a:srgbClr val="FFFFFF"/>
              </a:solidFill>
              <a:effectLst/>
              <a:uFillTx/>
              <a:latin typeface="Arial"/>
            </a:endParaRPr>
          </a:p>
          <a:p>
            <a:pPr defTabSz="914400">
              <a:lnSpc>
                <a:spcPct val="100000"/>
              </a:lnSpc>
              <a:tabLst>
                <a:tab pos="0" algn="l"/>
              </a:tabLst>
            </a:pPr>
            <a:r>
              <a:rPr lang="en-US" sz="2300" b="1" u="none" strike="noStrike">
                <a:solidFill>
                  <a:srgbClr val="F8FAFF"/>
                </a:solidFill>
                <a:effectLst/>
                <a:uFillTx/>
                <a:latin typeface="Aptos"/>
                <a:ea typeface="Aptos"/>
              </a:rPr>
              <a:t>Better migrations</a:t>
            </a:r>
            <a:endParaRPr lang="en-US" sz="2300" b="0" u="none" strike="noStrike">
              <a:solidFill>
                <a:srgbClr val="FFFFFF"/>
              </a:solidFill>
              <a:effectLst/>
              <a:uFillTx/>
              <a:latin typeface="Arial"/>
            </a:endParaRPr>
          </a:p>
          <a:p>
            <a:pPr defTabSz="914400">
              <a:lnSpc>
                <a:spcPct val="100000"/>
              </a:lnSpc>
              <a:tabLst>
                <a:tab pos="0" algn="l"/>
              </a:tabLst>
            </a:pPr>
            <a:r>
              <a:rPr lang="en-US" sz="2300" b="1" u="none" strike="noStrike">
                <a:solidFill>
                  <a:srgbClr val="F8FAFF"/>
                </a:solidFill>
                <a:effectLst/>
                <a:uFillTx/>
                <a:latin typeface="Aptos"/>
                <a:ea typeface="Aptos"/>
              </a:rPr>
              <a:t>Earlier async warnings</a:t>
            </a:r>
            <a:endParaRPr lang="en-US" sz="2300" b="0" u="none" strike="noStrike">
              <a:solidFill>
                <a:srgbClr val="FFFFFF"/>
              </a:solidFill>
              <a:effectLst/>
              <a:uFillTx/>
              <a:latin typeface="Arial"/>
            </a:endParaRPr>
          </a:p>
        </p:txBody>
      </p:sp>
      <p:sp>
        <p:nvSpPr>
          <p:cNvPr id="101" name="Shape 5"/>
          <p:cNvSpPr/>
          <p:nvPr/>
        </p:nvSpPr>
        <p:spPr>
          <a:xfrm>
            <a:off x="5760720" y="1508760"/>
            <a:ext cx="360" cy="4206240"/>
          </a:xfrm>
          <a:prstGeom prst="line">
            <a:avLst/>
          </a:prstGeom>
          <a:ln w="25400">
            <a:solidFill>
              <a:srgbClr val="2A3A58"/>
            </a:solidFill>
            <a:round/>
          </a:ln>
        </p:spPr>
        <p:style>
          <a:lnRef idx="0"/>
          <a:fillRef idx="0"/>
          <a:effectRef idx="0"/>
          <a:fontRef idx="minor"/>
        </p:style>
        <p:txBody>
          <a:bodyPr lIns="90000" tIns="45000" rIns="90000" bIns="45000" anchor="t" anchorCtr="1">
            <a:noAutofit/>
          </a:bodyPr>
          <a:p>
            <a:pPr/>
            <a:endParaRPr lang="en-US" sz="1800" b="0" u="none" strike="noStrike">
              <a:solidFill>
                <a:srgbClr val="FFFFFF"/>
              </a:solidFill>
              <a:effectLst/>
              <a:uFillTx/>
              <a:latin typeface="Arial"/>
            </a:endParaRPr>
          </a:p>
        </p:txBody>
      </p:sp>
      <p:sp>
        <p:nvSpPr>
          <p:cNvPr id="102" name="Text 6"/>
          <p:cNvSpPr/>
          <p:nvPr/>
        </p:nvSpPr>
        <p:spPr>
          <a:xfrm>
            <a:off x="6291000" y="1572840"/>
            <a:ext cx="2925720" cy="456840"/>
          </a:xfrm>
          <a:prstGeom prst="rect">
            <a:avLst/>
          </a:prstGeom>
          <a:noFill/>
          <a:ln w="0">
            <a:noFill/>
          </a:ln>
        </p:spPr>
        <p:style>
          <a:lnRef idx="0"/>
          <a:fillRef idx="0"/>
          <a:effectRef idx="0"/>
          <a:fontRef idx="minor"/>
        </p:style>
        <p:txBody>
          <a:bodyPr lIns="0" tIns="0" rIns="0" bIns="0" anchor="ctr">
            <a:normAutofit lnSpcReduction="9999"/>
          </a:bodyPr>
          <a:p>
            <a:pPr defTabSz="914400">
              <a:lnSpc>
                <a:spcPct val="100000"/>
              </a:lnSpc>
              <a:tabLst>
                <a:tab pos="0" algn="l"/>
              </a:tabLst>
            </a:pPr>
            <a:r>
              <a:rPr lang="en-US" sz="3100" b="1" u="none" strike="noStrike">
                <a:solidFill>
                  <a:srgbClr val="9175FF"/>
                </a:solidFill>
                <a:effectLst/>
                <a:uFillTx/>
                <a:latin typeface="Aptos"/>
                <a:ea typeface="Aptos"/>
              </a:rPr>
              <a:t>.NET MAUI</a:t>
            </a:r>
            <a:endParaRPr lang="en-US" sz="3100" b="0" u="none" strike="noStrike">
              <a:solidFill>
                <a:srgbClr val="FFFFFF"/>
              </a:solidFill>
              <a:effectLst/>
              <a:uFillTx/>
              <a:latin typeface="Arial"/>
            </a:endParaRPr>
          </a:p>
        </p:txBody>
      </p:sp>
      <p:sp>
        <p:nvSpPr>
          <p:cNvPr id="103" name="Text 7"/>
          <p:cNvSpPr/>
          <p:nvPr/>
        </p:nvSpPr>
        <p:spPr>
          <a:xfrm>
            <a:off x="6291000" y="2240280"/>
            <a:ext cx="4480200" cy="15998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2300" b="1" u="none" strike="noStrike">
                <a:solidFill>
                  <a:srgbClr val="F8FAFF"/>
                </a:solidFill>
                <a:effectLst/>
                <a:uFillTx/>
                <a:latin typeface="Aptos"/>
                <a:ea typeface="Aptos"/>
              </a:rPr>
              <a:t>Passkeys</a:t>
            </a:r>
            <a:endParaRPr lang="en-US" sz="2300" b="0" u="none" strike="noStrike">
              <a:solidFill>
                <a:srgbClr val="FFFFFF"/>
              </a:solidFill>
              <a:effectLst/>
              <a:uFillTx/>
              <a:latin typeface="Arial"/>
            </a:endParaRPr>
          </a:p>
          <a:p>
            <a:pPr defTabSz="914400">
              <a:lnSpc>
                <a:spcPct val="100000"/>
              </a:lnSpc>
              <a:tabLst>
                <a:tab pos="0" algn="l"/>
              </a:tabLst>
            </a:pPr>
            <a:r>
              <a:rPr lang="en-US" sz="2300" b="1" u="none" strike="noStrike">
                <a:solidFill>
                  <a:srgbClr val="F8FAFF"/>
                </a:solidFill>
                <a:effectLst/>
                <a:uFillTx/>
                <a:latin typeface="Aptos"/>
                <a:ea typeface="Aptos"/>
              </a:rPr>
              <a:t>Incremental Hot Reload</a:t>
            </a:r>
            <a:endParaRPr lang="en-US" sz="2300" b="0" u="none" strike="noStrike">
              <a:solidFill>
                <a:srgbClr val="FFFFFF"/>
              </a:solidFill>
              <a:effectLst/>
              <a:uFillTx/>
              <a:latin typeface="Arial"/>
            </a:endParaRPr>
          </a:p>
          <a:p>
            <a:pPr defTabSz="914400">
              <a:lnSpc>
                <a:spcPct val="100000"/>
              </a:lnSpc>
              <a:tabLst>
                <a:tab pos="0" algn="l"/>
              </a:tabLst>
            </a:pPr>
            <a:r>
              <a:rPr lang="en-US" sz="2300" b="1" u="none" strike="noStrike">
                <a:solidFill>
                  <a:srgbClr val="F8FAFF"/>
                </a:solidFill>
                <a:effectLst/>
                <a:uFillTx/>
                <a:latin typeface="Aptos"/>
                <a:ea typeface="Aptos"/>
              </a:rPr>
              <a:t>AOT-safe bindings</a:t>
            </a:r>
            <a:endParaRPr lang="en-US" sz="2300" b="0" u="none" strike="noStrike">
              <a:solidFill>
                <a:srgbClr val="FFFFFF"/>
              </a:solidFill>
              <a:effectLst/>
              <a:uFillTx/>
              <a:latin typeface="Arial"/>
            </a:endParaRPr>
          </a:p>
        </p:txBody>
      </p:sp>
      <p:sp>
        <p:nvSpPr>
          <p:cNvPr id="104" name="Text 8"/>
          <p:cNvSpPr/>
          <p:nvPr/>
        </p:nvSpPr>
        <p:spPr>
          <a:xfrm>
            <a:off x="3246120" y="5257800"/>
            <a:ext cx="5760360" cy="3654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600" b="0" u="none" strike="noStrike">
                <a:solidFill>
                  <a:srgbClr val="AEB9CC"/>
                </a:solidFill>
                <a:effectLst/>
                <a:uFillTx/>
                <a:latin typeface="Aptos"/>
                <a:ea typeface="Aptos"/>
              </a:rPr>
              <a:t>Pick the column that matches your project.</a:t>
            </a:r>
            <a:endParaRPr lang="en-US" sz="1600" b="0" u="none" strike="noStrike">
              <a:solidFill>
                <a:srgbClr val="FFFFFF"/>
              </a:solidFill>
              <a:effectLst/>
              <a:uFillTx/>
              <a:latin typeface="Arial"/>
            </a:endParaRPr>
          </a:p>
        </p:txBody>
      </p:sp>
      <p:sp>
        <p:nvSpPr>
          <p:cNvPr id="105" name="PlaceHolder 1"/>
          <p:cNvSpPr>
            <a:spLocks noGrp="1"/>
          </p:cNvSpPr>
          <p:nvPr>
            <p:ph type="sldNum" idx="8"/>
          </p:nvPr>
        </p:nvSpPr>
        <p:spPr>
          <a:xfrm>
            <a:off x="11521440" y="651060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800" b="0" u="none" strike="noStrike">
                <a:solidFill>
                  <a:srgbClr val="71809A"/>
                </a:solidFill>
                <a:effectLst/>
                <a:uFillTx/>
                <a:latin typeface="Aptos"/>
                <a:ea typeface="Aptos"/>
              </a:defRPr>
            </a:lvl1pPr>
          </a:lstStyle>
          <a:p>
            <a:pPr indent="0" algn="l" defTabSz="914400">
              <a:lnSpc>
                <a:spcPct val="100000"/>
              </a:lnSpc>
              <a:buNone/>
            </a:pPr>
            <a:fld id="{2C29BFFB-EC73-40BC-A19A-F1F31F1180C6}" type="slidenum">
              <a:rPr lang="en-US" sz="800" b="0" u="none" strike="noStrike">
                <a:solidFill>
                  <a:srgbClr val="71809A"/>
                </a:solidFill>
                <a:effectLst/>
                <a:uFillTx/>
                <a:latin typeface="Aptos"/>
                <a:ea typeface="Aptos"/>
              </a:rPr>
              <a:t>9</a:t>
            </a:fld>
            <a:endParaRPr lang="en-US" sz="8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0D1A"/>
        </a:solidFill>
      </p:bgPr>
    </p:bg>
    <p:spTree>
      <p:nvGrpSpPr>
        <p:cNvPr id="1" name=""/>
        <p:cNvGrpSpPr/>
        <p:nvPr/>
      </p:nvGrpSpPr>
      <p:grpSpPr>
        <a:xfrm>
          <a:off x="0" y="0"/>
          <a:ext cx="0" cy="0"/>
          <a:chOff x="0" y="0"/>
          <a:chExt cx="0" cy="0"/>
        </a:xfrm>
      </p:grpSpPr>
      <p:pic>
        <p:nvPicPr>
          <p:cNvPr id="106" name="Image 0" descr="generated_images/exec-5697688a-e42b-4671-b74f-78df7f9ec35a.png"/>
          <p:cNvPicPr/>
          <p:nvPr/>
        </p:nvPicPr>
        <p:blipFill>
          <a:blip r:embed="rId1"/>
          <a:stretch/>
        </p:blipFill>
        <p:spPr>
          <a:xfrm>
            <a:off x="0" y="0"/>
            <a:ext cx="12191400" cy="6857640"/>
          </a:xfrm>
          <a:prstGeom prst="rect">
            <a:avLst/>
          </a:prstGeom>
          <a:noFill/>
          <a:ln w="0">
            <a:noFill/>
          </a:ln>
        </p:spPr>
      </p:pic>
      <p:sp>
        <p:nvSpPr>
          <p:cNvPr id="107" name="Shape 0"/>
          <p:cNvSpPr/>
          <p:nvPr/>
        </p:nvSpPr>
        <p:spPr>
          <a:xfrm>
            <a:off x="0" y="0"/>
            <a:ext cx="5714640" cy="6857640"/>
          </a:xfrm>
          <a:prstGeom prst="rect">
            <a:avLst/>
          </a:prstGeom>
          <a:solidFill>
            <a:srgbClr val="070D1A">
              <a:alpha val="94000"/>
            </a:srgbClr>
          </a:solidFill>
          <a:ln w="12700">
            <a:solidFill>
              <a:srgbClr val="070D1A">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08" name="Text 1"/>
          <p:cNvSpPr/>
          <p:nvPr/>
        </p:nvSpPr>
        <p:spPr>
          <a:xfrm>
            <a:off x="658440" y="1417320"/>
            <a:ext cx="4708800" cy="13712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3800" b="1" u="none" strike="noStrike">
                <a:solidFill>
                  <a:srgbClr val="F8FAFF"/>
                </a:solidFill>
                <a:effectLst/>
                <a:uFillTx/>
                <a:latin typeface="Aptos"/>
                <a:ea typeface="Aptos"/>
              </a:rPr>
              <a:t>The toolchain</a:t>
            </a:r>
            <a:endParaRPr lang="en-US" sz="3800" b="0" u="none" strike="noStrike">
              <a:solidFill>
                <a:srgbClr val="FFFFFF"/>
              </a:solidFill>
              <a:effectLst/>
              <a:uFillTx/>
              <a:latin typeface="Arial"/>
            </a:endParaRPr>
          </a:p>
          <a:p>
            <a:pPr defTabSz="914400">
              <a:lnSpc>
                <a:spcPct val="100000"/>
              </a:lnSpc>
              <a:tabLst>
                <a:tab pos="0" algn="l"/>
              </a:tabLst>
            </a:pPr>
            <a:r>
              <a:rPr lang="en-US" sz="3800" b="1" u="none" strike="noStrike">
                <a:solidFill>
                  <a:srgbClr val="F8FAFF"/>
                </a:solidFill>
                <a:effectLst/>
                <a:uFillTx/>
                <a:latin typeface="Aptos"/>
                <a:ea typeface="Aptos"/>
              </a:rPr>
              <a:t>gets friendlier.</a:t>
            </a:r>
            <a:endParaRPr lang="en-US" sz="3800" b="0" u="none" strike="noStrike">
              <a:solidFill>
                <a:srgbClr val="FFFFFF"/>
              </a:solidFill>
              <a:effectLst/>
              <a:uFillTx/>
              <a:latin typeface="Arial"/>
            </a:endParaRPr>
          </a:p>
        </p:txBody>
      </p:sp>
      <p:sp>
        <p:nvSpPr>
          <p:cNvPr id="109" name="Text 2"/>
          <p:cNvSpPr/>
          <p:nvPr/>
        </p:nvSpPr>
        <p:spPr>
          <a:xfrm>
            <a:off x="658440" y="3154680"/>
            <a:ext cx="4343040" cy="8683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800" b="0" u="none" strike="noStrike">
                <a:solidFill>
                  <a:srgbClr val="AEB9CC"/>
                </a:solidFill>
                <a:effectLst/>
                <a:uFillTx/>
                <a:latin typeface="Aptos"/>
                <a:ea typeface="Aptos"/>
              </a:rPr>
              <a:t>Tests, Native AOT, containers, and AI integration</a:t>
            </a:r>
            <a:endParaRPr lang="en-US" sz="1800" b="0" u="none" strike="noStrike">
              <a:solidFill>
                <a:srgbClr val="FFFFFF"/>
              </a:solidFill>
              <a:effectLst/>
              <a:uFillTx/>
              <a:latin typeface="Arial"/>
            </a:endParaRPr>
          </a:p>
        </p:txBody>
      </p:sp>
      <p:sp>
        <p:nvSpPr>
          <p:cNvPr id="110" name="Shape 3"/>
          <p:cNvSpPr/>
          <p:nvPr/>
        </p:nvSpPr>
        <p:spPr>
          <a:xfrm>
            <a:off x="658080" y="1097280"/>
            <a:ext cx="777240" cy="360"/>
          </a:xfrm>
          <a:prstGeom prst="line">
            <a:avLst/>
          </a:prstGeom>
          <a:ln w="63500">
            <a:solidFill>
              <a:srgbClr val="60E5A1"/>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0D1A"/>
        </a:solidFill>
      </p:bgPr>
    </p:bg>
    <p:spTree>
      <p:nvGrpSpPr>
        <p:cNvPr id="1" name=""/>
        <p:cNvGrpSpPr/>
        <p:nvPr/>
      </p:nvGrpSpPr>
      <p:grpSpPr>
        <a:xfrm>
          <a:off x="0" y="0"/>
          <a:ext cx="0" cy="0"/>
          <a:chOff x="0" y="0"/>
          <a:chExt cx="0" cy="0"/>
        </a:xfrm>
      </p:grpSpPr>
      <p:pic>
        <p:nvPicPr>
          <p:cNvPr id="111" name="Image 0" descr="generated_images/exec-ca412057-71b7-4c51-b9e1-55361238d38b.png"/>
          <p:cNvPicPr/>
          <p:nvPr/>
        </p:nvPicPr>
        <p:blipFill>
          <a:blip r:embed="rId1"/>
          <a:stretch/>
        </p:blipFill>
        <p:spPr>
          <a:xfrm>
            <a:off x="0" y="0"/>
            <a:ext cx="12191400" cy="6857640"/>
          </a:xfrm>
          <a:prstGeom prst="rect">
            <a:avLst/>
          </a:prstGeom>
          <a:noFill/>
          <a:ln w="0">
            <a:noFill/>
          </a:ln>
        </p:spPr>
      </p:pic>
      <p:sp>
        <p:nvSpPr>
          <p:cNvPr id="112" name="Shape 0"/>
          <p:cNvSpPr/>
          <p:nvPr/>
        </p:nvSpPr>
        <p:spPr>
          <a:xfrm>
            <a:off x="0" y="0"/>
            <a:ext cx="5166000" cy="6857640"/>
          </a:xfrm>
          <a:prstGeom prst="rect">
            <a:avLst/>
          </a:prstGeom>
          <a:solidFill>
            <a:srgbClr val="070D1A">
              <a:alpha val="95000"/>
            </a:srgbClr>
          </a:solidFill>
          <a:ln w="12700">
            <a:solidFill>
              <a:srgbClr val="070D1A">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3" name="Text 1"/>
          <p:cNvSpPr/>
          <p:nvPr/>
        </p:nvSpPr>
        <p:spPr>
          <a:xfrm>
            <a:off x="621720" y="777240"/>
            <a:ext cx="4434480" cy="59400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3700" b="1" u="none" strike="noStrike">
                <a:solidFill>
                  <a:srgbClr val="F8FAFF"/>
                </a:solidFill>
                <a:effectLst/>
                <a:uFillTx/>
                <a:latin typeface="Aptos"/>
                <a:ea typeface="Aptos"/>
              </a:rPr>
              <a:t>Stop runaway tests.</a:t>
            </a:r>
            <a:endParaRPr lang="en-US" sz="3700" b="0" u="none" strike="noStrike">
              <a:solidFill>
                <a:srgbClr val="FFFFFF"/>
              </a:solidFill>
              <a:effectLst/>
              <a:uFillTx/>
              <a:latin typeface="Arial"/>
            </a:endParaRPr>
          </a:p>
        </p:txBody>
      </p:sp>
      <p:sp>
        <p:nvSpPr>
          <p:cNvPr id="114" name="Text 2"/>
          <p:cNvSpPr/>
          <p:nvPr/>
        </p:nvSpPr>
        <p:spPr>
          <a:xfrm>
            <a:off x="658440" y="1965960"/>
            <a:ext cx="2925720" cy="4384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200" b="1" u="none" strike="noStrike">
                <a:solidFill>
                  <a:srgbClr val="42DBFF"/>
                </a:solidFill>
                <a:effectLst/>
                <a:uFillTx/>
                <a:latin typeface="DejaVu Sans Mono"/>
                <a:ea typeface="DejaVu Sans Mono"/>
              </a:rPr>
              <a:t>--timeout</a:t>
            </a:r>
            <a:endParaRPr lang="en-US" sz="2200" b="0" u="none" strike="noStrike">
              <a:solidFill>
                <a:srgbClr val="FFFFFF"/>
              </a:solidFill>
              <a:effectLst/>
              <a:uFillTx/>
              <a:latin typeface="Arial"/>
            </a:endParaRPr>
          </a:p>
        </p:txBody>
      </p:sp>
      <p:sp>
        <p:nvSpPr>
          <p:cNvPr id="115" name="Text 3"/>
          <p:cNvSpPr/>
          <p:nvPr/>
        </p:nvSpPr>
        <p:spPr>
          <a:xfrm>
            <a:off x="658440" y="2670120"/>
            <a:ext cx="4114440" cy="4384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900" b="1" u="none" strike="noStrike">
                <a:solidFill>
                  <a:srgbClr val="9175FF"/>
                </a:solidFill>
                <a:effectLst/>
                <a:uFillTx/>
                <a:latin typeface="DejaVu Sans Mono"/>
                <a:ea typeface="DejaVu Sans Mono"/>
              </a:rPr>
              <a:t>--maximum-failed-tests</a:t>
            </a:r>
            <a:endParaRPr lang="en-US" sz="1900" b="0" u="none" strike="noStrike">
              <a:solidFill>
                <a:srgbClr val="FFFFFF"/>
              </a:solidFill>
              <a:effectLst/>
              <a:uFillTx/>
              <a:latin typeface="Arial"/>
            </a:endParaRPr>
          </a:p>
        </p:txBody>
      </p:sp>
      <p:sp>
        <p:nvSpPr>
          <p:cNvPr id="116" name="Text 4"/>
          <p:cNvSpPr/>
          <p:nvPr/>
        </p:nvSpPr>
        <p:spPr>
          <a:xfrm>
            <a:off x="658440" y="3401640"/>
            <a:ext cx="3108600" cy="3837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000" b="1" u="none" strike="noStrike">
                <a:solidFill>
                  <a:srgbClr val="60E5A1"/>
                </a:solidFill>
                <a:effectLst/>
                <a:uFillTx/>
                <a:latin typeface="Aptos"/>
                <a:ea typeface="Aptos"/>
              </a:rPr>
              <a:t>Traversal projects</a:t>
            </a:r>
            <a:endParaRPr lang="en-US" sz="2000" b="0" u="none" strike="noStrike">
              <a:solidFill>
                <a:srgbClr val="FFFFFF"/>
              </a:solidFill>
              <a:effectLst/>
              <a:uFillTx/>
              <a:latin typeface="Arial"/>
            </a:endParaRPr>
          </a:p>
        </p:txBody>
      </p:sp>
      <p:sp>
        <p:nvSpPr>
          <p:cNvPr id="117" name="Text 5"/>
          <p:cNvSpPr/>
          <p:nvPr/>
        </p:nvSpPr>
        <p:spPr>
          <a:xfrm>
            <a:off x="658440" y="4800600"/>
            <a:ext cx="3977280" cy="548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700" b="0" u="none" strike="noStrike">
                <a:solidFill>
                  <a:srgbClr val="AEB9CC"/>
                </a:solidFill>
                <a:effectLst/>
                <a:uFillTx/>
                <a:latin typeface="Aptos"/>
                <a:ea typeface="Aptos"/>
              </a:rPr>
              <a:t>Less pipeline glue. Clearer limits.</a:t>
            </a:r>
            <a:endParaRPr lang="en-U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0D1A"/>
        </a:solidFill>
      </p:bgPr>
    </p:bg>
    <p:spTree>
      <p:nvGrpSpPr>
        <p:cNvPr id="1" name=""/>
        <p:cNvGrpSpPr/>
        <p:nvPr/>
      </p:nvGrpSpPr>
      <p:grpSpPr>
        <a:xfrm>
          <a:off x="0" y="0"/>
          <a:ext cx="0" cy="0"/>
          <a:chOff x="0" y="0"/>
          <a:chExt cx="0" cy="0"/>
        </a:xfrm>
      </p:grpSpPr>
      <p:pic>
        <p:nvPicPr>
          <p:cNvPr id="118" name="Image 0" descr="generated_images/exec-160ce6a2-e4e4-4d6e-97d5-afaa3e65518d.png"/>
          <p:cNvPicPr/>
          <p:nvPr/>
        </p:nvPicPr>
        <p:blipFill>
          <a:blip r:embed="rId1"/>
          <a:stretch/>
        </p:blipFill>
        <p:spPr>
          <a:xfrm>
            <a:off x="0" y="0"/>
            <a:ext cx="12191400" cy="6857640"/>
          </a:xfrm>
          <a:prstGeom prst="rect">
            <a:avLst/>
          </a:prstGeom>
          <a:noFill/>
          <a:ln w="0">
            <a:noFill/>
          </a:ln>
        </p:spPr>
      </p:pic>
      <p:sp>
        <p:nvSpPr>
          <p:cNvPr id="119" name="Shape 0"/>
          <p:cNvSpPr/>
          <p:nvPr/>
        </p:nvSpPr>
        <p:spPr>
          <a:xfrm>
            <a:off x="0" y="0"/>
            <a:ext cx="4708800" cy="6857640"/>
          </a:xfrm>
          <a:prstGeom prst="rect">
            <a:avLst/>
          </a:prstGeom>
          <a:solidFill>
            <a:srgbClr val="070D1A">
              <a:alpha val="95000"/>
            </a:srgbClr>
          </a:solidFill>
          <a:ln w="12700">
            <a:solidFill>
              <a:srgbClr val="070D1A">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20" name="Text 1"/>
          <p:cNvSpPr/>
          <p:nvPr/>
        </p:nvSpPr>
        <p:spPr>
          <a:xfrm>
            <a:off x="621720" y="914400"/>
            <a:ext cx="4023000" cy="1188360"/>
          </a:xfrm>
          <a:prstGeom prst="rect">
            <a:avLst/>
          </a:prstGeom>
          <a:noFill/>
          <a:ln w="0">
            <a:noFill/>
          </a:ln>
        </p:spPr>
        <p:style>
          <a:lnRef idx="0"/>
          <a:fillRef idx="0"/>
          <a:effectRef idx="0"/>
          <a:fontRef idx="minor"/>
        </p:style>
        <p:txBody>
          <a:bodyPr lIns="0" tIns="0" rIns="0" bIns="0" anchor="t">
            <a:normAutofit fontScale="85000" lnSpcReduction="19999"/>
          </a:bodyPr>
          <a:p>
            <a:pPr defTabSz="914400">
              <a:lnSpc>
                <a:spcPct val="100000"/>
              </a:lnSpc>
              <a:tabLst>
                <a:tab pos="0" algn="l"/>
              </a:tabLst>
            </a:pPr>
            <a:r>
              <a:rPr lang="en-US" sz="3500" b="1" u="none" strike="noStrike">
                <a:solidFill>
                  <a:srgbClr val="F8FAFF"/>
                </a:solidFill>
                <a:effectLst/>
                <a:uFillTx/>
                <a:latin typeface="Aptos"/>
                <a:ea typeface="Aptos"/>
              </a:rPr>
              <a:t>Large app in.</a:t>
            </a:r>
            <a:endParaRPr lang="en-US" sz="3500" b="0" u="none" strike="noStrike">
              <a:solidFill>
                <a:srgbClr val="FFFFFF"/>
              </a:solidFill>
              <a:effectLst/>
              <a:uFillTx/>
              <a:latin typeface="Arial"/>
            </a:endParaRPr>
          </a:p>
          <a:p>
            <a:pPr defTabSz="914400">
              <a:lnSpc>
                <a:spcPct val="100000"/>
              </a:lnSpc>
              <a:tabLst>
                <a:tab pos="0" algn="l"/>
              </a:tabLst>
            </a:pPr>
            <a:r>
              <a:rPr lang="en-US" sz="3500" b="1" u="none" strike="noStrike">
                <a:solidFill>
                  <a:srgbClr val="F8FAFF"/>
                </a:solidFill>
                <a:effectLst/>
                <a:uFillTx/>
                <a:latin typeface="Aptos"/>
                <a:ea typeface="Aptos"/>
              </a:rPr>
              <a:t>Small executable out.</a:t>
            </a:r>
            <a:endParaRPr lang="en-US" sz="3500" b="0" u="none" strike="noStrike">
              <a:solidFill>
                <a:srgbClr val="FFFFFF"/>
              </a:solidFill>
              <a:effectLst/>
              <a:uFillTx/>
              <a:latin typeface="Arial"/>
            </a:endParaRPr>
          </a:p>
        </p:txBody>
      </p:sp>
      <p:sp>
        <p:nvSpPr>
          <p:cNvPr id="121" name="Text 2"/>
          <p:cNvSpPr/>
          <p:nvPr/>
        </p:nvSpPr>
        <p:spPr>
          <a:xfrm>
            <a:off x="658440" y="2834640"/>
            <a:ext cx="3702960" cy="7495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900" b="1" u="none" strike="noStrike">
                <a:solidFill>
                  <a:srgbClr val="FFB55F"/>
                </a:solidFill>
                <a:effectLst/>
                <a:uFillTx/>
                <a:latin typeface="Aptos"/>
                <a:ea typeface="Aptos"/>
              </a:rPr>
              <a:t>Native AOT CLI enabled by default in Preview 7</a:t>
            </a:r>
            <a:endParaRPr lang="en-US" sz="1900" b="0" u="none" strike="noStrike">
              <a:solidFill>
                <a:srgbClr val="FFFFFF"/>
              </a:solidFill>
              <a:effectLst/>
              <a:uFillTx/>
              <a:latin typeface="Arial"/>
            </a:endParaRPr>
          </a:p>
        </p:txBody>
      </p:sp>
      <p:sp>
        <p:nvSpPr>
          <p:cNvPr id="122" name="Text 3"/>
          <p:cNvSpPr/>
          <p:nvPr/>
        </p:nvSpPr>
        <p:spPr>
          <a:xfrm>
            <a:off x="658440" y="4297680"/>
            <a:ext cx="3702960" cy="6397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700" b="0" u="none" strike="noStrike">
                <a:solidFill>
                  <a:srgbClr val="AEB9CC"/>
                </a:solidFill>
                <a:effectLst/>
                <a:uFillTx/>
                <a:latin typeface="Aptos"/>
                <a:ea typeface="Aptos"/>
              </a:rPr>
              <a:t>Measure startup, memory, and compatibility.</a:t>
            </a:r>
            <a:endParaRPr lang="en-U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Shape 0"/>
          <p:cNvSpPr/>
          <p:nvPr/>
        </p:nvSpPr>
        <p:spPr>
          <a:xfrm>
            <a:off x="502920" y="311040"/>
            <a:ext cx="1599840" cy="301320"/>
          </a:xfrm>
          <a:prstGeom prst="roundRect">
            <a:avLst>
              <a:gd name="adj" fmla="val 48485"/>
            </a:avLst>
          </a:prstGeom>
          <a:solidFill>
            <a:srgbClr val="9175FF"/>
          </a:solidFill>
          <a:ln w="12700">
            <a:solidFill>
              <a:srgbClr val="9175FF">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24" name="Text 1"/>
          <p:cNvSpPr/>
          <p:nvPr/>
        </p:nvSpPr>
        <p:spPr>
          <a:xfrm>
            <a:off x="603360" y="356760"/>
            <a:ext cx="1389600" cy="13680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900" b="1" u="none" strike="noStrike">
                <a:solidFill>
                  <a:srgbClr val="F8FAFF"/>
                </a:solidFill>
                <a:effectLst/>
                <a:uFillTx/>
                <a:latin typeface="Aptos"/>
                <a:ea typeface="Aptos"/>
              </a:rPr>
              <a:t>03  TOOLCHAIN</a:t>
            </a:r>
            <a:endParaRPr lang="en-US" sz="900" b="0" u="none" strike="noStrike">
              <a:solidFill>
                <a:srgbClr val="FFFFFF"/>
              </a:solidFill>
              <a:effectLst/>
              <a:uFillTx/>
              <a:latin typeface="Arial"/>
            </a:endParaRPr>
          </a:p>
        </p:txBody>
      </p:sp>
      <p:sp>
        <p:nvSpPr>
          <p:cNvPr id="125" name="Text 2"/>
          <p:cNvSpPr/>
          <p:nvPr/>
        </p:nvSpPr>
        <p:spPr>
          <a:xfrm>
            <a:off x="502920" y="768240"/>
            <a:ext cx="10972440" cy="502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900" b="1" u="none" strike="noStrike">
                <a:solidFill>
                  <a:srgbClr val="F8FAFF"/>
                </a:solidFill>
                <a:effectLst/>
                <a:uFillTx/>
                <a:latin typeface="Aptos"/>
                <a:ea typeface="Aptos"/>
              </a:rPr>
              <a:t>MCP becomes a normal .NET project</a:t>
            </a:r>
            <a:endParaRPr lang="en-US" sz="2900" b="0" u="none" strike="noStrike">
              <a:solidFill>
                <a:srgbClr val="FFFFFF"/>
              </a:solidFill>
              <a:effectLst/>
              <a:uFillTx/>
              <a:latin typeface="Arial"/>
            </a:endParaRPr>
          </a:p>
        </p:txBody>
      </p:sp>
      <p:sp>
        <p:nvSpPr>
          <p:cNvPr id="126" name="Text 3"/>
          <p:cNvSpPr/>
          <p:nvPr/>
        </p:nvSpPr>
        <p:spPr>
          <a:xfrm>
            <a:off x="731520" y="1508760"/>
            <a:ext cx="3200040" cy="548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100" b="1" u="none" strike="noStrike">
                <a:solidFill>
                  <a:srgbClr val="42DBFF"/>
                </a:solidFill>
                <a:effectLst/>
                <a:uFillTx/>
                <a:latin typeface="DejaVu Sans Mono"/>
                <a:ea typeface="DejaVu Sans Mono"/>
              </a:rPr>
              <a:t>dotnet new</a:t>
            </a:r>
            <a:endParaRPr lang="en-US" sz="3100" b="0" u="none" strike="noStrike">
              <a:solidFill>
                <a:srgbClr val="FFFFFF"/>
              </a:solidFill>
              <a:effectLst/>
              <a:uFillTx/>
              <a:latin typeface="Arial"/>
            </a:endParaRPr>
          </a:p>
        </p:txBody>
      </p:sp>
      <p:sp>
        <p:nvSpPr>
          <p:cNvPr id="127" name="Text 4"/>
          <p:cNvSpPr/>
          <p:nvPr/>
        </p:nvSpPr>
        <p:spPr>
          <a:xfrm>
            <a:off x="731520" y="2240280"/>
            <a:ext cx="4023000" cy="6397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500" b="1" u="none" strike="noStrike">
                <a:solidFill>
                  <a:srgbClr val="F8FAFF"/>
                </a:solidFill>
                <a:effectLst/>
                <a:uFillTx/>
                <a:latin typeface="Aptos"/>
                <a:ea typeface="Aptos"/>
              </a:rPr>
              <a:t>MCP Server</a:t>
            </a:r>
            <a:endParaRPr lang="en-US" sz="3500" b="0" u="none" strike="noStrike">
              <a:solidFill>
                <a:srgbClr val="FFFFFF"/>
              </a:solidFill>
              <a:effectLst/>
              <a:uFillTx/>
              <a:latin typeface="Arial"/>
            </a:endParaRPr>
          </a:p>
        </p:txBody>
      </p:sp>
      <p:sp>
        <p:nvSpPr>
          <p:cNvPr id="128" name="Text 5"/>
          <p:cNvSpPr/>
          <p:nvPr/>
        </p:nvSpPr>
        <p:spPr>
          <a:xfrm>
            <a:off x="749880" y="3182040"/>
            <a:ext cx="3657240" cy="4111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900" b="0" u="none" strike="noStrike">
                <a:solidFill>
                  <a:srgbClr val="AEB9CC"/>
                </a:solidFill>
                <a:effectLst/>
                <a:uFillTx/>
                <a:latin typeface="Aptos"/>
                <a:ea typeface="Aptos"/>
              </a:rPr>
              <a:t>A template saves setup time.</a:t>
            </a:r>
            <a:endParaRPr lang="en-US" sz="1900" b="0" u="none" strike="noStrike">
              <a:solidFill>
                <a:srgbClr val="FFFFFF"/>
              </a:solidFill>
              <a:effectLst/>
              <a:uFillTx/>
              <a:latin typeface="Arial"/>
            </a:endParaRPr>
          </a:p>
        </p:txBody>
      </p:sp>
      <p:pic>
        <p:nvPicPr>
          <p:cNvPr id="129" name="Image 0" descr="generated_images/exec-5697688a-e42b-4671-b74f-78df7f9ec35a.png"/>
          <p:cNvPicPr/>
          <p:nvPr/>
        </p:nvPicPr>
        <p:blipFill>
          <a:blip r:embed="rId1"/>
          <a:stretch/>
        </p:blipFill>
        <p:spPr>
          <a:xfrm>
            <a:off x="5669280" y="1298520"/>
            <a:ext cx="5623200" cy="4525920"/>
          </a:xfrm>
          <a:prstGeom prst="rect">
            <a:avLst/>
          </a:prstGeom>
          <a:noFill/>
          <a:ln w="0">
            <a:noFill/>
          </a:ln>
        </p:spPr>
      </p:pic>
      <p:sp>
        <p:nvSpPr>
          <p:cNvPr id="130" name="Shape 6"/>
          <p:cNvSpPr/>
          <p:nvPr/>
        </p:nvSpPr>
        <p:spPr>
          <a:xfrm>
            <a:off x="5669280" y="1298520"/>
            <a:ext cx="5623200" cy="4525920"/>
          </a:xfrm>
          <a:prstGeom prst="rect">
            <a:avLst/>
          </a:prstGeom>
          <a:solidFill>
            <a:srgbClr val="070D1A">
              <a:alpha val="28000"/>
            </a:srgbClr>
          </a:solidFill>
          <a:ln w="12700">
            <a:solidFill>
              <a:srgbClr val="070D1A">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31" name="Text 7"/>
          <p:cNvSpPr/>
          <p:nvPr/>
        </p:nvSpPr>
        <p:spPr>
          <a:xfrm>
            <a:off x="6400800" y="2011680"/>
            <a:ext cx="4023000" cy="19656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2700" b="1" u="none" strike="noStrike">
                <a:solidFill>
                  <a:srgbClr val="F8FAFF"/>
                </a:solidFill>
                <a:effectLst/>
                <a:uFillTx/>
                <a:latin typeface="Aptos"/>
                <a:ea typeface="Aptos"/>
              </a:rPr>
              <a:t>Start read-only.</a:t>
            </a:r>
            <a:endParaRPr lang="en-US" sz="2700" b="0" u="none" strike="noStrike">
              <a:solidFill>
                <a:srgbClr val="FFFFFF"/>
              </a:solidFill>
              <a:effectLst/>
              <a:uFillTx/>
              <a:latin typeface="Arial"/>
            </a:endParaRPr>
          </a:p>
          <a:p>
            <a:pPr defTabSz="914400">
              <a:lnSpc>
                <a:spcPct val="100000"/>
              </a:lnSpc>
              <a:tabLst>
                <a:tab pos="0" algn="l"/>
              </a:tabLst>
            </a:pPr>
            <a:r>
              <a:rPr lang="en-US" sz="2700" b="1" u="none" strike="noStrike">
                <a:solidFill>
                  <a:srgbClr val="F8FAFF"/>
                </a:solidFill>
                <a:effectLst/>
                <a:uFillTx/>
                <a:latin typeface="Aptos"/>
                <a:ea typeface="Aptos"/>
              </a:rPr>
              <a:t>Use safe data.</a:t>
            </a:r>
            <a:endParaRPr lang="en-US" sz="2700" b="0" u="none" strike="noStrike">
              <a:solidFill>
                <a:srgbClr val="FFFFFF"/>
              </a:solidFill>
              <a:effectLst/>
              <a:uFillTx/>
              <a:latin typeface="Arial"/>
            </a:endParaRPr>
          </a:p>
          <a:p>
            <a:pPr defTabSz="914400">
              <a:lnSpc>
                <a:spcPct val="100000"/>
              </a:lnSpc>
              <a:tabLst>
                <a:tab pos="0" algn="l"/>
              </a:tabLst>
            </a:pPr>
            <a:r>
              <a:rPr lang="en-US" sz="2700" b="1" u="none" strike="noStrike">
                <a:solidFill>
                  <a:srgbClr val="F8FAFF"/>
                </a:solidFill>
                <a:effectLst/>
                <a:uFillTx/>
                <a:latin typeface="Aptos"/>
                <a:ea typeface="Aptos"/>
              </a:rPr>
              <a:t>Log every call.</a:t>
            </a:r>
            <a:endParaRPr lang="en-US" sz="2700" b="0" u="none" strike="noStrike">
              <a:solidFill>
                <a:srgbClr val="FFFFFF"/>
              </a:solidFill>
              <a:effectLst/>
              <a:uFillTx/>
              <a:latin typeface="Arial"/>
            </a:endParaRPr>
          </a:p>
        </p:txBody>
      </p:sp>
      <p:sp>
        <p:nvSpPr>
          <p:cNvPr id="132" name="PlaceHolder 1"/>
          <p:cNvSpPr>
            <a:spLocks noGrp="1"/>
          </p:cNvSpPr>
          <p:nvPr>
            <p:ph type="sldNum" idx="9"/>
          </p:nvPr>
        </p:nvSpPr>
        <p:spPr>
          <a:xfrm>
            <a:off x="11521440" y="651060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800" b="0" u="none" strike="noStrike">
                <a:solidFill>
                  <a:srgbClr val="71809A"/>
                </a:solidFill>
                <a:effectLst/>
                <a:uFillTx/>
                <a:latin typeface="Aptos"/>
                <a:ea typeface="Aptos"/>
              </a:defRPr>
            </a:lvl1pPr>
          </a:lstStyle>
          <a:p>
            <a:pPr indent="0" algn="l" defTabSz="914400">
              <a:lnSpc>
                <a:spcPct val="100000"/>
              </a:lnSpc>
              <a:buNone/>
            </a:pPr>
            <a:fld id="{25D02AE4-8FA8-4BA0-9DB9-052433BEC5A0}" type="slidenum">
              <a:rPr lang="en-US" sz="800" b="0" u="none" strike="noStrike">
                <a:solidFill>
                  <a:srgbClr val="71809A"/>
                </a:solidFill>
                <a:effectLst/>
                <a:uFillTx/>
                <a:latin typeface="Aptos"/>
                <a:ea typeface="Aptos"/>
              </a:rPr>
              <a:t>13</a:t>
            </a:fld>
            <a:endParaRPr lang="en-US" sz="8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0D1A"/>
        </a:solidFill>
      </p:bgPr>
    </p:bg>
    <p:spTree>
      <p:nvGrpSpPr>
        <p:cNvPr id="1" name=""/>
        <p:cNvGrpSpPr/>
        <p:nvPr/>
      </p:nvGrpSpPr>
      <p:grpSpPr>
        <a:xfrm>
          <a:off x="0" y="0"/>
          <a:ext cx="0" cy="0"/>
          <a:chOff x="0" y="0"/>
          <a:chExt cx="0" cy="0"/>
        </a:xfrm>
      </p:grpSpPr>
      <p:pic>
        <p:nvPicPr>
          <p:cNvPr id="133" name="Image 0" descr="generated_images/exec-8957bf0c-4593-4fee-a6d6-57186df95c23.png"/>
          <p:cNvPicPr/>
          <p:nvPr/>
        </p:nvPicPr>
        <p:blipFill>
          <a:blip r:embed="rId1"/>
          <a:stretch/>
        </p:blipFill>
        <p:spPr>
          <a:xfrm>
            <a:off x="0" y="0"/>
            <a:ext cx="12191400" cy="6857640"/>
          </a:xfrm>
          <a:prstGeom prst="rect">
            <a:avLst/>
          </a:prstGeom>
          <a:noFill/>
          <a:ln w="0">
            <a:noFill/>
          </a:ln>
        </p:spPr>
      </p:pic>
      <p:sp>
        <p:nvSpPr>
          <p:cNvPr id="134" name="Shape 0"/>
          <p:cNvSpPr/>
          <p:nvPr/>
        </p:nvSpPr>
        <p:spPr>
          <a:xfrm>
            <a:off x="0" y="0"/>
            <a:ext cx="5714640" cy="6857640"/>
          </a:xfrm>
          <a:prstGeom prst="rect">
            <a:avLst/>
          </a:prstGeom>
          <a:solidFill>
            <a:srgbClr val="070D1A">
              <a:alpha val="94000"/>
            </a:srgbClr>
          </a:solidFill>
          <a:ln w="12700">
            <a:solidFill>
              <a:srgbClr val="070D1A">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35" name="Text 1"/>
          <p:cNvSpPr/>
          <p:nvPr/>
        </p:nvSpPr>
        <p:spPr>
          <a:xfrm>
            <a:off x="658440" y="1417320"/>
            <a:ext cx="4708800" cy="13712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3800" b="1" u="none" strike="noStrike">
                <a:solidFill>
                  <a:srgbClr val="F8FAFF"/>
                </a:solidFill>
                <a:effectLst/>
                <a:uFillTx/>
                <a:latin typeface="Aptos"/>
                <a:ea typeface="Aptos"/>
              </a:rPr>
              <a:t>The deadline</a:t>
            </a:r>
            <a:endParaRPr lang="en-US" sz="3800" b="0" u="none" strike="noStrike">
              <a:solidFill>
                <a:srgbClr val="FFFFFF"/>
              </a:solidFill>
              <a:effectLst/>
              <a:uFillTx/>
              <a:latin typeface="Arial"/>
            </a:endParaRPr>
          </a:p>
          <a:p>
            <a:pPr defTabSz="914400">
              <a:lnSpc>
                <a:spcPct val="100000"/>
              </a:lnSpc>
              <a:tabLst>
                <a:tab pos="0" algn="l"/>
              </a:tabLst>
            </a:pPr>
            <a:r>
              <a:rPr lang="en-US" sz="3800" b="1" u="none" strike="noStrike">
                <a:solidFill>
                  <a:srgbClr val="F8FAFF"/>
                </a:solidFill>
                <a:effectLst/>
                <a:uFillTx/>
                <a:latin typeface="Aptos"/>
                <a:ea typeface="Aptos"/>
              </a:rPr>
              <a:t>is already close.</a:t>
            </a:r>
            <a:endParaRPr lang="en-US" sz="3800" b="0" u="none" strike="noStrike">
              <a:solidFill>
                <a:srgbClr val="FFFFFF"/>
              </a:solidFill>
              <a:effectLst/>
              <a:uFillTx/>
              <a:latin typeface="Arial"/>
            </a:endParaRPr>
          </a:p>
        </p:txBody>
      </p:sp>
      <p:sp>
        <p:nvSpPr>
          <p:cNvPr id="136" name="Text 2"/>
          <p:cNvSpPr/>
          <p:nvPr/>
        </p:nvSpPr>
        <p:spPr>
          <a:xfrm>
            <a:off x="658440" y="3154680"/>
            <a:ext cx="4343040" cy="8683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800" b="0" u="none" strike="noStrike">
                <a:solidFill>
                  <a:srgbClr val="AEB9CC"/>
                </a:solidFill>
                <a:effectLst/>
                <a:uFillTx/>
                <a:latin typeface="Aptos"/>
                <a:ea typeface="Aptos"/>
              </a:rPr>
              <a:t>Support ends for .NET 8 and .NET 9 on November 10</a:t>
            </a:r>
            <a:endParaRPr lang="en-US" sz="1800" b="0" u="none" strike="noStrike">
              <a:solidFill>
                <a:srgbClr val="FFFFFF"/>
              </a:solidFill>
              <a:effectLst/>
              <a:uFillTx/>
              <a:latin typeface="Arial"/>
            </a:endParaRPr>
          </a:p>
        </p:txBody>
      </p:sp>
      <p:sp>
        <p:nvSpPr>
          <p:cNvPr id="137" name="Shape 3"/>
          <p:cNvSpPr/>
          <p:nvPr/>
        </p:nvSpPr>
        <p:spPr>
          <a:xfrm>
            <a:off x="658080" y="1097280"/>
            <a:ext cx="777240" cy="360"/>
          </a:xfrm>
          <a:prstGeom prst="line">
            <a:avLst/>
          </a:prstGeom>
          <a:ln w="63500">
            <a:solidFill>
              <a:srgbClr val="FFB55F"/>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Shape 0"/>
          <p:cNvSpPr/>
          <p:nvPr/>
        </p:nvSpPr>
        <p:spPr>
          <a:xfrm>
            <a:off x="502920" y="311040"/>
            <a:ext cx="1599840" cy="301320"/>
          </a:xfrm>
          <a:prstGeom prst="roundRect">
            <a:avLst>
              <a:gd name="adj" fmla="val 48485"/>
            </a:avLst>
          </a:prstGeom>
          <a:solidFill>
            <a:srgbClr val="9175FF"/>
          </a:solidFill>
          <a:ln w="12700">
            <a:solidFill>
              <a:srgbClr val="9175FF">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39" name="Text 1"/>
          <p:cNvSpPr/>
          <p:nvPr/>
        </p:nvSpPr>
        <p:spPr>
          <a:xfrm>
            <a:off x="603360" y="356760"/>
            <a:ext cx="1389600" cy="13680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900" b="1" u="none" strike="noStrike">
                <a:solidFill>
                  <a:srgbClr val="F8FAFF"/>
                </a:solidFill>
                <a:effectLst/>
                <a:uFillTx/>
                <a:latin typeface="Aptos"/>
                <a:ea typeface="Aptos"/>
              </a:rPr>
              <a:t>04  ACTION</a:t>
            </a:r>
            <a:endParaRPr lang="en-US" sz="900" b="0" u="none" strike="noStrike">
              <a:solidFill>
                <a:srgbClr val="FFFFFF"/>
              </a:solidFill>
              <a:effectLst/>
              <a:uFillTx/>
              <a:latin typeface="Arial"/>
            </a:endParaRPr>
          </a:p>
        </p:txBody>
      </p:sp>
      <p:sp>
        <p:nvSpPr>
          <p:cNvPr id="140" name="Text 2"/>
          <p:cNvSpPr/>
          <p:nvPr/>
        </p:nvSpPr>
        <p:spPr>
          <a:xfrm>
            <a:off x="502920" y="768240"/>
            <a:ext cx="10972440" cy="502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900" b="1" u="none" strike="noStrike">
                <a:solidFill>
                  <a:srgbClr val="F8FAFF"/>
                </a:solidFill>
                <a:effectLst/>
                <a:uFillTx/>
                <a:latin typeface="Aptos"/>
                <a:ea typeface="Aptos"/>
              </a:rPr>
              <a:t>November 10, 2026</a:t>
            </a:r>
            <a:endParaRPr lang="en-US" sz="2900" b="0" u="none" strike="noStrike">
              <a:solidFill>
                <a:srgbClr val="FFFFFF"/>
              </a:solidFill>
              <a:effectLst/>
              <a:uFillTx/>
              <a:latin typeface="Arial"/>
            </a:endParaRPr>
          </a:p>
        </p:txBody>
      </p:sp>
      <p:sp>
        <p:nvSpPr>
          <p:cNvPr id="141" name="Text 3"/>
          <p:cNvSpPr/>
          <p:nvPr/>
        </p:nvSpPr>
        <p:spPr>
          <a:xfrm>
            <a:off x="658440" y="1325880"/>
            <a:ext cx="2011320" cy="12340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6500" b="1" u="none" strike="noStrike">
                <a:solidFill>
                  <a:srgbClr val="FFB55F"/>
                </a:solidFill>
                <a:effectLst/>
                <a:uFillTx/>
                <a:latin typeface="Aptos"/>
                <a:ea typeface="Aptos"/>
              </a:rPr>
              <a:t>10</a:t>
            </a:r>
            <a:endParaRPr lang="en-US" sz="6500" b="0" u="none" strike="noStrike">
              <a:solidFill>
                <a:srgbClr val="FFFFFF"/>
              </a:solidFill>
              <a:effectLst/>
              <a:uFillTx/>
              <a:latin typeface="Arial"/>
            </a:endParaRPr>
          </a:p>
        </p:txBody>
      </p:sp>
      <p:sp>
        <p:nvSpPr>
          <p:cNvPr id="142" name="Text 4"/>
          <p:cNvSpPr/>
          <p:nvPr/>
        </p:nvSpPr>
        <p:spPr>
          <a:xfrm>
            <a:off x="2788920" y="1481400"/>
            <a:ext cx="3017160" cy="150840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2300" b="1" u="none" strike="noStrike">
                <a:solidFill>
                  <a:srgbClr val="F8FAFF"/>
                </a:solidFill>
                <a:effectLst/>
                <a:uFillTx/>
                <a:latin typeface="Aptos"/>
                <a:ea typeface="Aptos"/>
              </a:rPr>
              <a:t>WEEKS ARE</a:t>
            </a:r>
            <a:endParaRPr lang="en-US" sz="2300" b="0" u="none" strike="noStrike">
              <a:solidFill>
                <a:srgbClr val="FFFFFF"/>
              </a:solidFill>
              <a:effectLst/>
              <a:uFillTx/>
              <a:latin typeface="Arial"/>
            </a:endParaRPr>
          </a:p>
          <a:p>
            <a:pPr defTabSz="914400">
              <a:lnSpc>
                <a:spcPct val="100000"/>
              </a:lnSpc>
              <a:tabLst>
                <a:tab pos="0" algn="l"/>
              </a:tabLst>
            </a:pPr>
            <a:r>
              <a:rPr lang="en-US" sz="2300" b="1" u="none" strike="noStrike">
                <a:solidFill>
                  <a:srgbClr val="F8FAFF"/>
                </a:solidFill>
                <a:effectLst/>
                <a:uFillTx/>
                <a:latin typeface="Aptos"/>
                <a:ea typeface="Aptos"/>
              </a:rPr>
              <a:t>MORE VALUABLE</a:t>
            </a:r>
            <a:endParaRPr lang="en-US" sz="2300" b="0" u="none" strike="noStrike">
              <a:solidFill>
                <a:srgbClr val="FFFFFF"/>
              </a:solidFill>
              <a:effectLst/>
              <a:uFillTx/>
              <a:latin typeface="Arial"/>
            </a:endParaRPr>
          </a:p>
          <a:p>
            <a:pPr defTabSz="914400">
              <a:lnSpc>
                <a:spcPct val="100000"/>
              </a:lnSpc>
              <a:tabLst>
                <a:tab pos="0" algn="l"/>
              </a:tabLst>
            </a:pPr>
            <a:r>
              <a:rPr lang="en-US" sz="2300" b="1" u="none" strike="noStrike">
                <a:solidFill>
                  <a:srgbClr val="F8FAFF"/>
                </a:solidFill>
                <a:effectLst/>
                <a:uFillTx/>
                <a:latin typeface="Aptos"/>
                <a:ea typeface="Aptos"/>
              </a:rPr>
              <a:t>THAN DAYS</a:t>
            </a:r>
            <a:endParaRPr lang="en-US" sz="2300" b="0" u="none" strike="noStrike">
              <a:solidFill>
                <a:srgbClr val="FFFFFF"/>
              </a:solidFill>
              <a:effectLst/>
              <a:uFillTx/>
              <a:latin typeface="Arial"/>
            </a:endParaRPr>
          </a:p>
        </p:txBody>
      </p:sp>
      <p:pic>
        <p:nvPicPr>
          <p:cNvPr id="143" name="Image 0" descr="generated_images/exec-8957bf0c-4593-4fee-a6d6-57186df95c23.png"/>
          <p:cNvPicPr/>
          <p:nvPr/>
        </p:nvPicPr>
        <p:blipFill>
          <a:blip r:embed="rId1"/>
          <a:stretch/>
        </p:blipFill>
        <p:spPr>
          <a:xfrm>
            <a:off x="6400800" y="1298520"/>
            <a:ext cx="5074560" cy="4525920"/>
          </a:xfrm>
          <a:prstGeom prst="rect">
            <a:avLst/>
          </a:prstGeom>
          <a:noFill/>
          <a:ln w="0">
            <a:noFill/>
          </a:ln>
        </p:spPr>
      </p:pic>
      <p:sp>
        <p:nvSpPr>
          <p:cNvPr id="144" name="Shape 5"/>
          <p:cNvSpPr/>
          <p:nvPr/>
        </p:nvSpPr>
        <p:spPr>
          <a:xfrm>
            <a:off x="6400800" y="1298520"/>
            <a:ext cx="5074560" cy="4525920"/>
          </a:xfrm>
          <a:prstGeom prst="rect">
            <a:avLst/>
          </a:prstGeom>
          <a:solidFill>
            <a:srgbClr val="070D1A">
              <a:alpha val="33000"/>
            </a:srgbClr>
          </a:solidFill>
          <a:ln w="12700">
            <a:solidFill>
              <a:srgbClr val="070D1A">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45" name="Text 6"/>
          <p:cNvSpPr/>
          <p:nvPr/>
        </p:nvSpPr>
        <p:spPr>
          <a:xfrm>
            <a:off x="713160" y="4114800"/>
            <a:ext cx="1508400" cy="2739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FF718E"/>
                </a:solidFill>
                <a:effectLst/>
                <a:uFillTx/>
                <a:latin typeface="Aptos"/>
                <a:ea typeface="Aptos"/>
              </a:rPr>
              <a:t>NOW</a:t>
            </a:r>
            <a:endParaRPr lang="en-US" sz="1200" b="0" u="none" strike="noStrike">
              <a:solidFill>
                <a:srgbClr val="FFFFFF"/>
              </a:solidFill>
              <a:effectLst/>
              <a:uFillTx/>
              <a:latin typeface="Arial"/>
            </a:endParaRPr>
          </a:p>
        </p:txBody>
      </p:sp>
      <p:sp>
        <p:nvSpPr>
          <p:cNvPr id="146" name="Text 7"/>
          <p:cNvSpPr/>
          <p:nvPr/>
        </p:nvSpPr>
        <p:spPr>
          <a:xfrm>
            <a:off x="713160" y="4526280"/>
            <a:ext cx="1554120" cy="6397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F8FAFF"/>
                </a:solidFill>
                <a:effectLst/>
                <a:uFillTx/>
                <a:latin typeface="Aptos"/>
                <a:ea typeface="Aptos"/>
              </a:rPr>
              <a:t>Inventory</a:t>
            </a:r>
            <a:endParaRPr lang="en-US" sz="1800" b="0" u="none" strike="noStrike">
              <a:solidFill>
                <a:srgbClr val="FFFFFF"/>
              </a:solidFill>
              <a:effectLst/>
              <a:uFillTx/>
              <a:latin typeface="Arial"/>
            </a:endParaRPr>
          </a:p>
        </p:txBody>
      </p:sp>
      <p:sp>
        <p:nvSpPr>
          <p:cNvPr id="147" name="Text 8"/>
          <p:cNvSpPr/>
          <p:nvPr/>
        </p:nvSpPr>
        <p:spPr>
          <a:xfrm>
            <a:off x="2541960" y="4114800"/>
            <a:ext cx="1508400" cy="2739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FFB55F"/>
                </a:solidFill>
                <a:effectLst/>
                <a:uFillTx/>
                <a:latin typeface="Aptos"/>
                <a:ea typeface="Aptos"/>
              </a:rPr>
              <a:t>NEXT</a:t>
            </a:r>
            <a:endParaRPr lang="en-US" sz="1200" b="0" u="none" strike="noStrike">
              <a:solidFill>
                <a:srgbClr val="FFFFFF"/>
              </a:solidFill>
              <a:effectLst/>
              <a:uFillTx/>
              <a:latin typeface="Arial"/>
            </a:endParaRPr>
          </a:p>
        </p:txBody>
      </p:sp>
      <p:sp>
        <p:nvSpPr>
          <p:cNvPr id="148" name="Text 9"/>
          <p:cNvSpPr/>
          <p:nvPr/>
        </p:nvSpPr>
        <p:spPr>
          <a:xfrm>
            <a:off x="2541960" y="4526280"/>
            <a:ext cx="1554120" cy="6397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F8FAFF"/>
                </a:solidFill>
                <a:effectLst/>
                <a:uFillTx/>
                <a:latin typeface="Aptos"/>
                <a:ea typeface="Aptos"/>
              </a:rPr>
              <a:t>Upgrade spike</a:t>
            </a:r>
            <a:endParaRPr lang="en-US" sz="1800" b="0" u="none" strike="noStrike">
              <a:solidFill>
                <a:srgbClr val="FFFFFF"/>
              </a:solidFill>
              <a:effectLst/>
              <a:uFillTx/>
              <a:latin typeface="Arial"/>
            </a:endParaRPr>
          </a:p>
        </p:txBody>
      </p:sp>
      <p:sp>
        <p:nvSpPr>
          <p:cNvPr id="149" name="Text 10"/>
          <p:cNvSpPr/>
          <p:nvPr/>
        </p:nvSpPr>
        <p:spPr>
          <a:xfrm>
            <a:off x="4370760" y="4114800"/>
            <a:ext cx="1508400" cy="2739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200" b="1" u="none" strike="noStrike">
                <a:solidFill>
                  <a:srgbClr val="60E5A1"/>
                </a:solidFill>
                <a:effectLst/>
                <a:uFillTx/>
                <a:latin typeface="Aptos"/>
                <a:ea typeface="Aptos"/>
              </a:rPr>
              <a:t>THEN</a:t>
            </a:r>
            <a:endParaRPr lang="en-US" sz="1200" b="0" u="none" strike="noStrike">
              <a:solidFill>
                <a:srgbClr val="FFFFFF"/>
              </a:solidFill>
              <a:effectLst/>
              <a:uFillTx/>
              <a:latin typeface="Arial"/>
            </a:endParaRPr>
          </a:p>
        </p:txBody>
      </p:sp>
      <p:sp>
        <p:nvSpPr>
          <p:cNvPr id="150" name="Text 11"/>
          <p:cNvSpPr/>
          <p:nvPr/>
        </p:nvSpPr>
        <p:spPr>
          <a:xfrm>
            <a:off x="4370760" y="4526280"/>
            <a:ext cx="1554120" cy="63972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1800" b="1" u="none" strike="noStrike">
                <a:solidFill>
                  <a:srgbClr val="F8FAFF"/>
                </a:solidFill>
                <a:effectLst/>
                <a:uFillTx/>
                <a:latin typeface="Aptos"/>
                <a:ea typeface="Aptos"/>
              </a:rPr>
              <a:t>Test + rollout</a:t>
            </a:r>
            <a:endParaRPr lang="en-US" sz="1800" b="0" u="none" strike="noStrike">
              <a:solidFill>
                <a:srgbClr val="FFFFFF"/>
              </a:solidFill>
              <a:effectLst/>
              <a:uFillTx/>
              <a:latin typeface="Arial"/>
            </a:endParaRPr>
          </a:p>
        </p:txBody>
      </p:sp>
      <p:sp>
        <p:nvSpPr>
          <p:cNvPr id="151" name="PlaceHolder 1"/>
          <p:cNvSpPr>
            <a:spLocks noGrp="1"/>
          </p:cNvSpPr>
          <p:nvPr>
            <p:ph type="sldNum" idx="10"/>
          </p:nvPr>
        </p:nvSpPr>
        <p:spPr>
          <a:xfrm>
            <a:off x="11521440" y="651060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800" b="0" u="none" strike="noStrike">
                <a:solidFill>
                  <a:srgbClr val="71809A"/>
                </a:solidFill>
                <a:effectLst/>
                <a:uFillTx/>
                <a:latin typeface="Aptos"/>
                <a:ea typeface="Aptos"/>
              </a:defRPr>
            </a:lvl1pPr>
          </a:lstStyle>
          <a:p>
            <a:pPr indent="0" algn="l" defTabSz="914400">
              <a:lnSpc>
                <a:spcPct val="100000"/>
              </a:lnSpc>
              <a:buNone/>
            </a:pPr>
            <a:fld id="{C9195EF4-20C4-4F5A-B678-4037B7F24C12}" type="slidenum">
              <a:rPr lang="en-US" sz="800" b="0" u="none" strike="noStrike">
                <a:solidFill>
                  <a:srgbClr val="71809A"/>
                </a:solidFill>
                <a:effectLst/>
                <a:uFillTx/>
                <a:latin typeface="Aptos"/>
                <a:ea typeface="Aptos"/>
              </a:rPr>
              <a:t>15</a:t>
            </a:fld>
            <a:endParaRPr lang="en-US" sz="8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Shape 0"/>
          <p:cNvSpPr/>
          <p:nvPr/>
        </p:nvSpPr>
        <p:spPr>
          <a:xfrm>
            <a:off x="502920" y="311040"/>
            <a:ext cx="1599840" cy="301320"/>
          </a:xfrm>
          <a:prstGeom prst="roundRect">
            <a:avLst>
              <a:gd name="adj" fmla="val 48485"/>
            </a:avLst>
          </a:prstGeom>
          <a:solidFill>
            <a:srgbClr val="9175FF"/>
          </a:solidFill>
          <a:ln w="12700">
            <a:solidFill>
              <a:srgbClr val="9175FF">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53" name="Text 1"/>
          <p:cNvSpPr/>
          <p:nvPr/>
        </p:nvSpPr>
        <p:spPr>
          <a:xfrm>
            <a:off x="603360" y="356760"/>
            <a:ext cx="1389600" cy="13680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900" b="1" u="none" strike="noStrike">
                <a:solidFill>
                  <a:srgbClr val="F8FAFF"/>
                </a:solidFill>
                <a:effectLst/>
                <a:uFillTx/>
                <a:latin typeface="Aptos"/>
                <a:ea typeface="Aptos"/>
              </a:rPr>
              <a:t>04  ACTION</a:t>
            </a:r>
            <a:endParaRPr lang="en-US" sz="900" b="0" u="none" strike="noStrike">
              <a:solidFill>
                <a:srgbClr val="FFFFFF"/>
              </a:solidFill>
              <a:effectLst/>
              <a:uFillTx/>
              <a:latin typeface="Arial"/>
            </a:endParaRPr>
          </a:p>
        </p:txBody>
      </p:sp>
      <p:sp>
        <p:nvSpPr>
          <p:cNvPr id="154" name="Text 2"/>
          <p:cNvSpPr/>
          <p:nvPr/>
        </p:nvSpPr>
        <p:spPr>
          <a:xfrm>
            <a:off x="502920" y="768240"/>
            <a:ext cx="10972440" cy="502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900" b="1" u="none" strike="noStrike">
                <a:solidFill>
                  <a:srgbClr val="F8FAFF"/>
                </a:solidFill>
                <a:effectLst/>
                <a:uFillTx/>
                <a:latin typeface="Aptos"/>
                <a:ea typeface="Aptos"/>
              </a:rPr>
              <a:t>What should we do Monday?</a:t>
            </a:r>
            <a:endParaRPr lang="en-US" sz="2900" b="0" u="none" strike="noStrike">
              <a:solidFill>
                <a:srgbClr val="FFFFFF"/>
              </a:solidFill>
              <a:effectLst/>
              <a:uFillTx/>
              <a:latin typeface="Arial"/>
            </a:endParaRPr>
          </a:p>
        </p:txBody>
      </p:sp>
      <p:sp>
        <p:nvSpPr>
          <p:cNvPr id="155" name="Text 3"/>
          <p:cNvSpPr/>
          <p:nvPr/>
        </p:nvSpPr>
        <p:spPr>
          <a:xfrm>
            <a:off x="777240" y="1481400"/>
            <a:ext cx="594000" cy="5482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3100" b="1" u="none" strike="noStrike">
                <a:solidFill>
                  <a:srgbClr val="FF718E"/>
                </a:solidFill>
                <a:effectLst/>
                <a:uFillTx/>
                <a:latin typeface="Aptos"/>
                <a:ea typeface="Aptos"/>
              </a:rPr>
              <a:t>1</a:t>
            </a:r>
            <a:endParaRPr lang="en-US" sz="3100" b="0" u="none" strike="noStrike">
              <a:solidFill>
                <a:srgbClr val="FFFFFF"/>
              </a:solidFill>
              <a:effectLst/>
              <a:uFillTx/>
              <a:latin typeface="Arial"/>
            </a:endParaRPr>
          </a:p>
        </p:txBody>
      </p:sp>
      <p:sp>
        <p:nvSpPr>
          <p:cNvPr id="156" name="Text 4"/>
          <p:cNvSpPr/>
          <p:nvPr/>
        </p:nvSpPr>
        <p:spPr>
          <a:xfrm>
            <a:off x="1645920" y="1481400"/>
            <a:ext cx="9052200" cy="548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300" b="1" u="none" strike="noStrike">
                <a:solidFill>
                  <a:srgbClr val="F8FAFF"/>
                </a:solidFill>
                <a:effectLst/>
                <a:uFillTx/>
                <a:latin typeface="Aptos"/>
                <a:ea typeface="Aptos"/>
              </a:rPr>
              <a:t>Find every .NET 8 and .NET 9 workload</a:t>
            </a:r>
            <a:endParaRPr lang="en-US" sz="2300" b="0" u="none" strike="noStrike">
              <a:solidFill>
                <a:srgbClr val="FFFFFF"/>
              </a:solidFill>
              <a:effectLst/>
              <a:uFillTx/>
              <a:latin typeface="Arial"/>
            </a:endParaRPr>
          </a:p>
        </p:txBody>
      </p:sp>
      <p:sp>
        <p:nvSpPr>
          <p:cNvPr id="157" name="Text 5"/>
          <p:cNvSpPr/>
          <p:nvPr/>
        </p:nvSpPr>
        <p:spPr>
          <a:xfrm>
            <a:off x="777240" y="2532960"/>
            <a:ext cx="594000" cy="5482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3100" b="1" u="none" strike="noStrike">
                <a:solidFill>
                  <a:srgbClr val="FFB55F"/>
                </a:solidFill>
                <a:effectLst/>
                <a:uFillTx/>
                <a:latin typeface="Aptos"/>
                <a:ea typeface="Aptos"/>
              </a:rPr>
              <a:t>2</a:t>
            </a:r>
            <a:endParaRPr lang="en-US" sz="3100" b="0" u="none" strike="noStrike">
              <a:solidFill>
                <a:srgbClr val="FFFFFF"/>
              </a:solidFill>
              <a:effectLst/>
              <a:uFillTx/>
              <a:latin typeface="Arial"/>
            </a:endParaRPr>
          </a:p>
        </p:txBody>
      </p:sp>
      <p:sp>
        <p:nvSpPr>
          <p:cNvPr id="158" name="Text 6"/>
          <p:cNvSpPr/>
          <p:nvPr/>
        </p:nvSpPr>
        <p:spPr>
          <a:xfrm>
            <a:off x="1645920" y="2532960"/>
            <a:ext cx="9052200" cy="548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300" b="1" u="none" strike="noStrike">
                <a:solidFill>
                  <a:srgbClr val="F8FAFF"/>
                </a:solidFill>
                <a:effectLst/>
                <a:uFillTx/>
                <a:latin typeface="Aptos"/>
                <a:ea typeface="Aptos"/>
              </a:rPr>
              <a:t>Upgrade one representative service</a:t>
            </a:r>
            <a:endParaRPr lang="en-US" sz="2300" b="0" u="none" strike="noStrike">
              <a:solidFill>
                <a:srgbClr val="FFFFFF"/>
              </a:solidFill>
              <a:effectLst/>
              <a:uFillTx/>
              <a:latin typeface="Arial"/>
            </a:endParaRPr>
          </a:p>
        </p:txBody>
      </p:sp>
      <p:sp>
        <p:nvSpPr>
          <p:cNvPr id="159" name="Text 7"/>
          <p:cNvSpPr/>
          <p:nvPr/>
        </p:nvSpPr>
        <p:spPr>
          <a:xfrm>
            <a:off x="777240" y="3584520"/>
            <a:ext cx="594000" cy="5482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3100" b="1" u="none" strike="noStrike">
                <a:solidFill>
                  <a:srgbClr val="9175FF"/>
                </a:solidFill>
                <a:effectLst/>
                <a:uFillTx/>
                <a:latin typeface="Aptos"/>
                <a:ea typeface="Aptos"/>
              </a:rPr>
              <a:t>3</a:t>
            </a:r>
            <a:endParaRPr lang="en-US" sz="3100" b="0" u="none" strike="noStrike">
              <a:solidFill>
                <a:srgbClr val="FFFFFF"/>
              </a:solidFill>
              <a:effectLst/>
              <a:uFillTx/>
              <a:latin typeface="Arial"/>
            </a:endParaRPr>
          </a:p>
        </p:txBody>
      </p:sp>
      <p:sp>
        <p:nvSpPr>
          <p:cNvPr id="160" name="Text 8"/>
          <p:cNvSpPr/>
          <p:nvPr/>
        </p:nvSpPr>
        <p:spPr>
          <a:xfrm>
            <a:off x="1645920" y="3584520"/>
            <a:ext cx="9052200" cy="548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300" b="1" u="none" strike="noStrike">
                <a:solidFill>
                  <a:srgbClr val="F8FAFF"/>
                </a:solidFill>
                <a:effectLst/>
                <a:uFillTx/>
                <a:latin typeface="Aptos"/>
                <a:ea typeface="Aptos"/>
              </a:rPr>
              <a:t>Try one .NET 11 feature in a branch</a:t>
            </a:r>
            <a:endParaRPr lang="en-US" sz="2300" b="0" u="none" strike="noStrike">
              <a:solidFill>
                <a:srgbClr val="FFFFFF"/>
              </a:solidFill>
              <a:effectLst/>
              <a:uFillTx/>
              <a:latin typeface="Arial"/>
            </a:endParaRPr>
          </a:p>
        </p:txBody>
      </p:sp>
      <p:sp>
        <p:nvSpPr>
          <p:cNvPr id="161" name="Text 9"/>
          <p:cNvSpPr/>
          <p:nvPr/>
        </p:nvSpPr>
        <p:spPr>
          <a:xfrm>
            <a:off x="777240" y="4636080"/>
            <a:ext cx="594000" cy="5482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3100" b="1" u="none" strike="noStrike">
                <a:solidFill>
                  <a:srgbClr val="60E5A1"/>
                </a:solidFill>
                <a:effectLst/>
                <a:uFillTx/>
                <a:latin typeface="Aptos"/>
                <a:ea typeface="Aptos"/>
              </a:rPr>
              <a:t>4</a:t>
            </a:r>
            <a:endParaRPr lang="en-US" sz="3100" b="0" u="none" strike="noStrike">
              <a:solidFill>
                <a:srgbClr val="FFFFFF"/>
              </a:solidFill>
              <a:effectLst/>
              <a:uFillTx/>
              <a:latin typeface="Arial"/>
            </a:endParaRPr>
          </a:p>
        </p:txBody>
      </p:sp>
      <p:sp>
        <p:nvSpPr>
          <p:cNvPr id="162" name="Text 10"/>
          <p:cNvSpPr/>
          <p:nvPr/>
        </p:nvSpPr>
        <p:spPr>
          <a:xfrm>
            <a:off x="1645920" y="4636080"/>
            <a:ext cx="9052200" cy="548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300" b="1" u="none" strike="noStrike">
                <a:solidFill>
                  <a:srgbClr val="F8FAFF"/>
                </a:solidFill>
                <a:effectLst/>
                <a:uFillTx/>
                <a:latin typeface="Aptos"/>
                <a:ea typeface="Aptos"/>
              </a:rPr>
              <a:t>Keep monthly servicing on schedule</a:t>
            </a:r>
            <a:endParaRPr lang="en-US" sz="2300" b="0" u="none" strike="noStrike">
              <a:solidFill>
                <a:srgbClr val="FFFFFF"/>
              </a:solidFill>
              <a:effectLst/>
              <a:uFillTx/>
              <a:latin typeface="Arial"/>
            </a:endParaRPr>
          </a:p>
        </p:txBody>
      </p:sp>
      <p:sp>
        <p:nvSpPr>
          <p:cNvPr id="163" name="PlaceHolder 1"/>
          <p:cNvSpPr>
            <a:spLocks noGrp="1"/>
          </p:cNvSpPr>
          <p:nvPr>
            <p:ph type="sldNum" idx="11"/>
          </p:nvPr>
        </p:nvSpPr>
        <p:spPr>
          <a:xfrm>
            <a:off x="11521440" y="651060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800" b="0" u="none" strike="noStrike">
                <a:solidFill>
                  <a:srgbClr val="71809A"/>
                </a:solidFill>
                <a:effectLst/>
                <a:uFillTx/>
                <a:latin typeface="Aptos"/>
                <a:ea typeface="Aptos"/>
              </a:defRPr>
            </a:lvl1pPr>
          </a:lstStyle>
          <a:p>
            <a:pPr indent="0" algn="l" defTabSz="914400">
              <a:lnSpc>
                <a:spcPct val="100000"/>
              </a:lnSpc>
              <a:buNone/>
            </a:pPr>
            <a:fld id="{A2E77528-6C34-4C2B-9A43-21B440E7BAAA}" type="slidenum">
              <a:rPr lang="en-US" sz="800" b="0" u="none" strike="noStrike">
                <a:solidFill>
                  <a:srgbClr val="71809A"/>
                </a:solidFill>
                <a:effectLst/>
                <a:uFillTx/>
                <a:latin typeface="Aptos"/>
                <a:ea typeface="Aptos"/>
              </a:rPr>
              <a:t>&lt;number&gt;</a:t>
            </a:fld>
            <a:endParaRPr lang="en-US" sz="8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Shape 0"/>
          <p:cNvSpPr/>
          <p:nvPr/>
        </p:nvSpPr>
        <p:spPr>
          <a:xfrm>
            <a:off x="502920" y="311040"/>
            <a:ext cx="1599840" cy="301320"/>
          </a:xfrm>
          <a:prstGeom prst="roundRect">
            <a:avLst>
              <a:gd name="adj" fmla="val 48485"/>
            </a:avLst>
          </a:prstGeom>
          <a:solidFill>
            <a:srgbClr val="9175FF"/>
          </a:solidFill>
          <a:ln w="12700">
            <a:solidFill>
              <a:srgbClr val="9175FF">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5" name="Text 1"/>
          <p:cNvSpPr/>
          <p:nvPr/>
        </p:nvSpPr>
        <p:spPr>
          <a:xfrm>
            <a:off x="603360" y="356760"/>
            <a:ext cx="1389600" cy="13680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900" b="1" u="none" strike="noStrike">
                <a:solidFill>
                  <a:srgbClr val="F8FAFF"/>
                </a:solidFill>
                <a:effectLst/>
                <a:uFillTx/>
                <a:latin typeface="Aptos"/>
                <a:ea typeface="Aptos"/>
              </a:rPr>
              <a:t>RECAP</a:t>
            </a:r>
            <a:endParaRPr lang="en-US" sz="900" b="0" u="none" strike="noStrike">
              <a:solidFill>
                <a:srgbClr val="FFFFFF"/>
              </a:solidFill>
              <a:effectLst/>
              <a:uFillTx/>
              <a:latin typeface="Arial"/>
            </a:endParaRPr>
          </a:p>
        </p:txBody>
      </p:sp>
      <p:sp>
        <p:nvSpPr>
          <p:cNvPr id="166" name="Text 2"/>
          <p:cNvSpPr/>
          <p:nvPr/>
        </p:nvSpPr>
        <p:spPr>
          <a:xfrm>
            <a:off x="502920" y="768240"/>
            <a:ext cx="10972440" cy="502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900" b="1" u="none" strike="noStrike">
                <a:solidFill>
                  <a:srgbClr val="F8FAFF"/>
                </a:solidFill>
                <a:effectLst/>
                <a:uFillTx/>
                <a:latin typeface="Aptos"/>
                <a:ea typeface="Aptos"/>
              </a:rPr>
              <a:t>Explore the future. Protect production.</a:t>
            </a:r>
            <a:endParaRPr lang="en-US" sz="2900" b="0" u="none" strike="noStrike">
              <a:solidFill>
                <a:srgbClr val="FFFFFF"/>
              </a:solidFill>
              <a:effectLst/>
              <a:uFillTx/>
              <a:latin typeface="Arial"/>
            </a:endParaRPr>
          </a:p>
        </p:txBody>
      </p:sp>
      <p:sp>
        <p:nvSpPr>
          <p:cNvPr id="167" name="Shape 3"/>
          <p:cNvSpPr/>
          <p:nvPr/>
        </p:nvSpPr>
        <p:spPr>
          <a:xfrm>
            <a:off x="685800" y="1481400"/>
            <a:ext cx="5074560" cy="3977280"/>
          </a:xfrm>
          <a:prstGeom prst="roundRect">
            <a:avLst>
              <a:gd name="adj" fmla="val 4598"/>
            </a:avLst>
          </a:prstGeom>
          <a:solidFill>
            <a:srgbClr val="111D34"/>
          </a:solidFill>
          <a:ln w="12700">
            <a:solidFill>
              <a:srgbClr val="111D34">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68" name="Text 4"/>
          <p:cNvSpPr/>
          <p:nvPr/>
        </p:nvSpPr>
        <p:spPr>
          <a:xfrm>
            <a:off x="960120" y="1810440"/>
            <a:ext cx="1828440" cy="3196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500" b="1" u="none" strike="noStrike">
                <a:solidFill>
                  <a:srgbClr val="42DBFF"/>
                </a:solidFill>
                <a:effectLst/>
                <a:uFillTx/>
                <a:latin typeface="Aptos"/>
                <a:ea typeface="Aptos"/>
              </a:rPr>
              <a:t>EXPLORE</a:t>
            </a:r>
            <a:endParaRPr lang="en-US" sz="1500" b="0" u="none" strike="noStrike">
              <a:solidFill>
                <a:srgbClr val="FFFFFF"/>
              </a:solidFill>
              <a:effectLst/>
              <a:uFillTx/>
              <a:latin typeface="Arial"/>
            </a:endParaRPr>
          </a:p>
        </p:txBody>
      </p:sp>
      <p:sp>
        <p:nvSpPr>
          <p:cNvPr id="169" name="Text 5"/>
          <p:cNvSpPr/>
          <p:nvPr/>
        </p:nvSpPr>
        <p:spPr>
          <a:xfrm>
            <a:off x="960120" y="2395800"/>
            <a:ext cx="2742840" cy="502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200" b="1" u="none" strike="noStrike">
                <a:solidFill>
                  <a:srgbClr val="F8FAFF"/>
                </a:solidFill>
                <a:effectLst/>
                <a:uFillTx/>
                <a:latin typeface="Aptos"/>
                <a:ea typeface="Aptos"/>
              </a:rPr>
              <a:t>.NET 11</a:t>
            </a:r>
            <a:endParaRPr lang="en-US" sz="3200" b="0" u="none" strike="noStrike">
              <a:solidFill>
                <a:srgbClr val="FFFFFF"/>
              </a:solidFill>
              <a:effectLst/>
              <a:uFillTx/>
              <a:latin typeface="Arial"/>
            </a:endParaRPr>
          </a:p>
        </p:txBody>
      </p:sp>
      <p:sp>
        <p:nvSpPr>
          <p:cNvPr id="170" name="Text 6"/>
          <p:cNvSpPr/>
          <p:nvPr/>
        </p:nvSpPr>
        <p:spPr>
          <a:xfrm>
            <a:off x="960120" y="3246120"/>
            <a:ext cx="3565800" cy="11426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2200" b="1" u="none" strike="noStrike">
                <a:solidFill>
                  <a:srgbClr val="F8FAFF"/>
                </a:solidFill>
                <a:effectLst/>
                <a:uFillTx/>
                <a:latin typeface="Aptos"/>
                <a:ea typeface="Aptos"/>
              </a:rPr>
              <a:t>One feature</a:t>
            </a:r>
            <a:endParaRPr lang="en-US" sz="2200" b="0" u="none" strike="noStrike">
              <a:solidFill>
                <a:srgbClr val="FFFFFF"/>
              </a:solidFill>
              <a:effectLst/>
              <a:uFillTx/>
              <a:latin typeface="Arial"/>
            </a:endParaRPr>
          </a:p>
          <a:p>
            <a:pPr defTabSz="914400">
              <a:lnSpc>
                <a:spcPct val="100000"/>
              </a:lnSpc>
              <a:tabLst>
                <a:tab pos="0" algn="l"/>
              </a:tabLst>
            </a:pPr>
            <a:r>
              <a:rPr lang="en-US" sz="2200" b="1" u="none" strike="noStrike">
                <a:solidFill>
                  <a:srgbClr val="F8FAFF"/>
                </a:solidFill>
                <a:effectLst/>
                <a:uFillTx/>
                <a:latin typeface="Aptos"/>
                <a:ea typeface="Aptos"/>
              </a:rPr>
              <a:t>One experiment</a:t>
            </a:r>
            <a:endParaRPr lang="en-US" sz="2200" b="0" u="none" strike="noStrike">
              <a:solidFill>
                <a:srgbClr val="FFFFFF"/>
              </a:solidFill>
              <a:effectLst/>
              <a:uFillTx/>
              <a:latin typeface="Arial"/>
            </a:endParaRPr>
          </a:p>
          <a:p>
            <a:pPr defTabSz="914400">
              <a:lnSpc>
                <a:spcPct val="100000"/>
              </a:lnSpc>
              <a:tabLst>
                <a:tab pos="0" algn="l"/>
              </a:tabLst>
            </a:pPr>
            <a:r>
              <a:rPr lang="en-US" sz="2200" b="1" u="none" strike="noStrike">
                <a:solidFill>
                  <a:srgbClr val="F8FAFF"/>
                </a:solidFill>
                <a:effectLst/>
                <a:uFillTx/>
                <a:latin typeface="Aptos"/>
                <a:ea typeface="Aptos"/>
              </a:rPr>
              <a:t>One measured result</a:t>
            </a:r>
            <a:endParaRPr lang="en-US" sz="2200" b="0" u="none" strike="noStrike">
              <a:solidFill>
                <a:srgbClr val="FFFFFF"/>
              </a:solidFill>
              <a:effectLst/>
              <a:uFillTx/>
              <a:latin typeface="Arial"/>
            </a:endParaRPr>
          </a:p>
        </p:txBody>
      </p:sp>
      <p:sp>
        <p:nvSpPr>
          <p:cNvPr id="171" name="Shape 7"/>
          <p:cNvSpPr/>
          <p:nvPr/>
        </p:nvSpPr>
        <p:spPr>
          <a:xfrm>
            <a:off x="6199560" y="1481400"/>
            <a:ext cx="5321520" cy="3977280"/>
          </a:xfrm>
          <a:prstGeom prst="roundRect">
            <a:avLst>
              <a:gd name="adj" fmla="val 4598"/>
            </a:avLst>
          </a:prstGeom>
          <a:solidFill>
            <a:srgbClr val="192339"/>
          </a:solidFill>
          <a:ln w="12700">
            <a:solidFill>
              <a:srgbClr val="192339">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72" name="Text 8"/>
          <p:cNvSpPr/>
          <p:nvPr/>
        </p:nvSpPr>
        <p:spPr>
          <a:xfrm>
            <a:off x="6473880" y="1810440"/>
            <a:ext cx="1828440" cy="3196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500" b="1" u="none" strike="noStrike">
                <a:solidFill>
                  <a:srgbClr val="FFB55F"/>
                </a:solidFill>
                <a:effectLst/>
                <a:uFillTx/>
                <a:latin typeface="Aptos"/>
                <a:ea typeface="Aptos"/>
              </a:rPr>
              <a:t>PROTECT</a:t>
            </a:r>
            <a:endParaRPr lang="en-US" sz="1500" b="0" u="none" strike="noStrike">
              <a:solidFill>
                <a:srgbClr val="FFFFFF"/>
              </a:solidFill>
              <a:effectLst/>
              <a:uFillTx/>
              <a:latin typeface="Arial"/>
            </a:endParaRPr>
          </a:p>
        </p:txBody>
      </p:sp>
      <p:sp>
        <p:nvSpPr>
          <p:cNvPr id="173" name="Text 9"/>
          <p:cNvSpPr/>
          <p:nvPr/>
        </p:nvSpPr>
        <p:spPr>
          <a:xfrm>
            <a:off x="6473880" y="2395800"/>
            <a:ext cx="3657240" cy="5025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3200" b="1" u="none" strike="noStrike">
                <a:solidFill>
                  <a:srgbClr val="F8FAFF"/>
                </a:solidFill>
                <a:effectLst/>
                <a:uFillTx/>
                <a:latin typeface="Aptos"/>
                <a:ea typeface="Aptos"/>
              </a:rPr>
              <a:t>.NET 8 + 9</a:t>
            </a:r>
            <a:endParaRPr lang="en-US" sz="3200" b="0" u="none" strike="noStrike">
              <a:solidFill>
                <a:srgbClr val="FFFFFF"/>
              </a:solidFill>
              <a:effectLst/>
              <a:uFillTx/>
              <a:latin typeface="Arial"/>
            </a:endParaRPr>
          </a:p>
        </p:txBody>
      </p:sp>
      <p:sp>
        <p:nvSpPr>
          <p:cNvPr id="174" name="Text 10"/>
          <p:cNvSpPr/>
          <p:nvPr/>
        </p:nvSpPr>
        <p:spPr>
          <a:xfrm>
            <a:off x="6473880" y="3246120"/>
            <a:ext cx="3840120" cy="1142640"/>
          </a:xfrm>
          <a:prstGeom prst="rect">
            <a:avLst/>
          </a:prstGeom>
          <a:noFill/>
          <a:ln w="0">
            <a:noFill/>
          </a:ln>
        </p:spPr>
        <p:style>
          <a:lnRef idx="0"/>
          <a:fillRef idx="0"/>
          <a:effectRef idx="0"/>
          <a:fontRef idx="minor"/>
        </p:style>
        <p:txBody>
          <a:bodyPr lIns="0" tIns="0" rIns="0" bIns="0" anchor="t">
            <a:normAutofit/>
          </a:bodyPr>
          <a:p>
            <a:pPr defTabSz="914400">
              <a:lnSpc>
                <a:spcPct val="100000"/>
              </a:lnSpc>
              <a:tabLst>
                <a:tab pos="0" algn="l"/>
              </a:tabLst>
            </a:pPr>
            <a:r>
              <a:rPr lang="en-US" sz="2200" b="1" u="none" strike="noStrike">
                <a:solidFill>
                  <a:srgbClr val="F8FAFF"/>
                </a:solidFill>
                <a:effectLst/>
                <a:uFillTx/>
                <a:latin typeface="Aptos"/>
                <a:ea typeface="Aptos"/>
              </a:rPr>
              <a:t>Patch now</a:t>
            </a:r>
            <a:endParaRPr lang="en-US" sz="2200" b="0" u="none" strike="noStrike">
              <a:solidFill>
                <a:srgbClr val="FFFFFF"/>
              </a:solidFill>
              <a:effectLst/>
              <a:uFillTx/>
              <a:latin typeface="Arial"/>
            </a:endParaRPr>
          </a:p>
          <a:p>
            <a:pPr defTabSz="914400">
              <a:lnSpc>
                <a:spcPct val="100000"/>
              </a:lnSpc>
              <a:tabLst>
                <a:tab pos="0" algn="l"/>
              </a:tabLst>
            </a:pPr>
            <a:r>
              <a:rPr lang="en-US" sz="2200" b="1" u="none" strike="noStrike">
                <a:solidFill>
                  <a:srgbClr val="F8FAFF"/>
                </a:solidFill>
                <a:effectLst/>
                <a:uFillTx/>
                <a:latin typeface="Aptos"/>
                <a:ea typeface="Aptos"/>
              </a:rPr>
              <a:t>Migrate early</a:t>
            </a:r>
            <a:endParaRPr lang="en-US" sz="2200" b="0" u="none" strike="noStrike">
              <a:solidFill>
                <a:srgbClr val="FFFFFF"/>
              </a:solidFill>
              <a:effectLst/>
              <a:uFillTx/>
              <a:latin typeface="Arial"/>
            </a:endParaRPr>
          </a:p>
          <a:p>
            <a:pPr defTabSz="914400">
              <a:lnSpc>
                <a:spcPct val="100000"/>
              </a:lnSpc>
              <a:tabLst>
                <a:tab pos="0" algn="l"/>
              </a:tabLst>
            </a:pPr>
            <a:r>
              <a:rPr lang="en-US" sz="2200" b="1" u="none" strike="noStrike">
                <a:solidFill>
                  <a:srgbClr val="F8FAFF"/>
                </a:solidFill>
                <a:effectLst/>
                <a:uFillTx/>
                <a:latin typeface="Aptos"/>
                <a:ea typeface="Aptos"/>
              </a:rPr>
              <a:t>Finish before Nov 10</a:t>
            </a:r>
            <a:endParaRPr lang="en-US" sz="2200" b="0" u="none" strike="noStrike">
              <a:solidFill>
                <a:srgbClr val="FFFFFF"/>
              </a:solidFill>
              <a:effectLst/>
              <a:uFillTx/>
              <a:latin typeface="Arial"/>
            </a:endParaRPr>
          </a:p>
        </p:txBody>
      </p:sp>
      <p:sp>
        <p:nvSpPr>
          <p:cNvPr id="175" name="PlaceHolder 1"/>
          <p:cNvSpPr>
            <a:spLocks noGrp="1"/>
          </p:cNvSpPr>
          <p:nvPr>
            <p:ph type="sldNum" idx="12"/>
          </p:nvPr>
        </p:nvSpPr>
        <p:spPr>
          <a:xfrm>
            <a:off x="11521440" y="6510600"/>
            <a:ext cx="799560" cy="299520"/>
          </a:xfrm>
          <a:prstGeom prst="rect">
            <a:avLst/>
          </a:prstGeom>
          <a:noFill/>
          <a:ln w="0">
            <a:noFill/>
          </a:ln>
        </p:spPr>
        <p:txBody>
          <a:bodyPr lIns="90000" tIns="45000" rIns="90000" bIns="45000" anchor="t">
            <a:noAutofit/>
          </a:bodyPr>
          <a:lstStyle>
            <a:lvl1pPr indent="0" algn="l" defTabSz="914400">
              <a:lnSpc>
                <a:spcPct val="100000"/>
              </a:lnSpc>
              <a:buNone/>
              <a:defRPr lang="en-US" sz="800" b="0" u="none" strike="noStrike">
                <a:solidFill>
                  <a:srgbClr val="71809A"/>
                </a:solidFill>
                <a:effectLst/>
                <a:uFillTx/>
                <a:latin typeface="Aptos"/>
                <a:ea typeface="Aptos"/>
              </a:defRPr>
            </a:lvl1pPr>
          </a:lstStyle>
          <a:p>
            <a:pPr indent="0" algn="l" defTabSz="914400">
              <a:lnSpc>
                <a:spcPct val="100000"/>
              </a:lnSpc>
              <a:buNone/>
            </a:pPr>
            <a:fld id="{25FFEF43-580D-4EE7-82C6-43D9E60F5241}" type="slidenum">
              <a:rPr lang="en-US" sz="800" b="0" u="none" strike="noStrike">
                <a:solidFill>
                  <a:srgbClr val="71809A"/>
                </a:solidFill>
                <a:effectLst/>
                <a:uFillTx/>
                <a:latin typeface="Aptos"/>
                <a:ea typeface="Aptos"/>
              </a:rPr>
              <a:t>&lt;number&gt;</a:t>
            </a:fld>
            <a:endParaRPr lang="en-US" sz="800" b="0" u="none" strike="noStrike">
              <a:solidFill>
                <a:srgbClr val="FFFFFF"/>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LibreOfficeDev/26.8.0.0.alpha0$Linux_X86_64 LibreOffice_project/2c87e51eeaa2b413ff4ae097b2705eea1995d8e5</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2026-09-13T15:26:27Z</dcterms:created>
  <dc:creator>OpenAI</dc:creator>
  <dc:description/>
  <dc:language>en-US</dc:language>
  <cp:lastModifiedBy>OpenAI</cp:lastModifiedBy>
  <dcterms:modified xsi:type="dcterms:W3CDTF">2026-09-13T15:26:27Z</dcterms:modified>
  <cp:revision>1</cp:revision>
  <dc:subject>Visual edition for junior developers</dc:subject>
  <dc:title>.NET News: Five Stories That Matter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17</vt:r8>
  </property>
  <property fmtid="{D5CDD505-2E9C-101B-9397-08002B2CF9AE}" pid="3" name="PresentationFormat">
    <vt:lpwstr>On-screen Show (16:9)</vt:lpwstr>
  </property>
  <property fmtid="{D5CDD505-2E9C-101B-9397-08002B2CF9AE}" pid="4" name="Slides">
    <vt:r8>17</vt:r8>
  </property>
</Properties>
</file>